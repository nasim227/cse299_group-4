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Garet Ultra-Bold" charset="1" panose="00000000000000000000"/>
      <p:regular r:id="rId16"/>
    </p:embeddedFont>
    <p:embeddedFont>
      <p:font typeface="Garet" charset="1" panose="00000000000000000000"/>
      <p:regular r:id="rId17"/>
    </p:embeddedFont>
    <p:embeddedFont>
      <p:font typeface="Garet Bold" charset="1" panose="00000000000000000000"/>
      <p:regular r:id="rId18"/>
    </p:embeddedFont>
    <p:embeddedFont>
      <p:font typeface="Montserrat" charset="1" panose="00000500000000000000"/>
      <p:regular r:id="rId19"/>
    </p:embeddedFont>
    <p:embeddedFont>
      <p:font typeface="Montserrat Bold" charset="1" panose="000008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jpe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2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jpeg" Type="http://schemas.openxmlformats.org/officeDocument/2006/relationships/image"/><Relationship Id="rId3" Target="../media/image28.jpe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753" t="0" r="-3879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052750" y="1133475"/>
            <a:ext cx="14182500" cy="3069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87"/>
              </a:lnSpc>
            </a:pPr>
            <a:r>
              <a:rPr lang="en-US" b="true" sz="7607">
                <a:solidFill>
                  <a:srgbClr val="FFFFFF"/>
                </a:solidFill>
                <a:latin typeface="Garet Ultra-Bold"/>
                <a:ea typeface="Garet Ultra-Bold"/>
                <a:cs typeface="Garet Ultra-Bold"/>
                <a:sym typeface="Garet Ultra-Bold"/>
              </a:rPr>
              <a:t>BIKE STORE MANAGEMENT SYSTEM </a:t>
            </a:r>
          </a:p>
          <a:p>
            <a:pPr algn="ctr">
              <a:lnSpc>
                <a:spcPts val="7987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553900">
            <a:off x="-1403331" y="6373933"/>
            <a:ext cx="23018043" cy="7826135"/>
          </a:xfrm>
          <a:custGeom>
            <a:avLst/>
            <a:gdLst/>
            <a:ahLst/>
            <a:cxnLst/>
            <a:rect r="r" b="b" t="t" l="l"/>
            <a:pathLst>
              <a:path h="7826135" w="23018043">
                <a:moveTo>
                  <a:pt x="0" y="0"/>
                </a:moveTo>
                <a:lnTo>
                  <a:pt x="23018043" y="0"/>
                </a:lnTo>
                <a:lnTo>
                  <a:pt x="23018043" y="7826134"/>
                </a:lnTo>
                <a:lnTo>
                  <a:pt x="0" y="78261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775826" y="4437606"/>
            <a:ext cx="9107197" cy="290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9"/>
              </a:lnSpc>
            </a:pPr>
            <a:r>
              <a:rPr lang="en-US" sz="19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Git Repository: </a:t>
            </a:r>
            <a:r>
              <a:rPr lang="en-US" sz="1999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https://github.com/Nasim227/CSE299_Group-4.git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114674" y="3297411"/>
            <a:ext cx="8058653" cy="1280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9"/>
              </a:lnSpc>
            </a:pPr>
            <a:r>
              <a:rPr lang="en-US" sz="177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Course Name: Junior Design </a:t>
            </a:r>
          </a:p>
          <a:p>
            <a:pPr algn="ctr">
              <a:lnSpc>
                <a:spcPts val="2089"/>
              </a:lnSpc>
            </a:pPr>
            <a:r>
              <a:rPr lang="en-US" sz="177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Course Code: CSE299 </a:t>
            </a:r>
          </a:p>
          <a:p>
            <a:pPr algn="ctr">
              <a:lnSpc>
                <a:spcPts val="2089"/>
              </a:lnSpc>
            </a:pPr>
            <a:r>
              <a:rPr lang="en-US" sz="177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Section: 04 </a:t>
            </a:r>
          </a:p>
          <a:p>
            <a:pPr algn="ctr">
              <a:lnSpc>
                <a:spcPts val="2089"/>
              </a:lnSpc>
            </a:pPr>
            <a:r>
              <a:rPr lang="en-US" sz="177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Group: 04 </a:t>
            </a:r>
          </a:p>
          <a:p>
            <a:pPr algn="ctr">
              <a:lnSpc>
                <a:spcPts val="208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2052750" y="4957036"/>
            <a:ext cx="14580379" cy="3130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5"/>
              </a:lnSpc>
            </a:pPr>
            <a:r>
              <a:rPr lang="en-US" b="true" sz="2640" u="sng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Group Members</a:t>
            </a:r>
          </a:p>
          <a:p>
            <a:pPr algn="ctr">
              <a:lnSpc>
                <a:spcPts val="3115"/>
              </a:lnSpc>
            </a:pPr>
            <a:r>
              <a:rPr lang="en-US" sz="264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 </a:t>
            </a:r>
          </a:p>
          <a:p>
            <a:pPr algn="ctr">
              <a:lnSpc>
                <a:spcPts val="3115"/>
              </a:lnSpc>
            </a:pPr>
            <a:r>
              <a:rPr lang="en-US" sz="264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Md. Nasim Ahmed ID: 2232936042</a:t>
            </a:r>
          </a:p>
          <a:p>
            <a:pPr algn="ctr">
              <a:lnSpc>
                <a:spcPts val="3115"/>
              </a:lnSpc>
            </a:pPr>
          </a:p>
          <a:p>
            <a:pPr algn="ctr">
              <a:lnSpc>
                <a:spcPts val="3115"/>
              </a:lnSpc>
            </a:pPr>
            <a:r>
              <a:rPr lang="en-US" sz="264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Md. Abir Hasan ID: 2021833642</a:t>
            </a:r>
          </a:p>
          <a:p>
            <a:pPr algn="ctr">
              <a:lnSpc>
                <a:spcPts val="3115"/>
              </a:lnSpc>
            </a:pPr>
          </a:p>
          <a:p>
            <a:pPr algn="ctr">
              <a:lnSpc>
                <a:spcPts val="3115"/>
              </a:lnSpc>
            </a:pPr>
            <a:r>
              <a:rPr lang="en-US" sz="264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Md Murad Ul Momin ID: 2232360642</a:t>
            </a:r>
          </a:p>
          <a:p>
            <a:pPr algn="ctr">
              <a:lnSpc>
                <a:spcPts val="311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1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712334" y="5110512"/>
            <a:ext cx="853242" cy="85324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53725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06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988965" y="5328287"/>
            <a:ext cx="299979" cy="417693"/>
          </a:xfrm>
          <a:custGeom>
            <a:avLst/>
            <a:gdLst/>
            <a:ahLst/>
            <a:cxnLst/>
            <a:rect r="r" b="b" t="t" l="l"/>
            <a:pathLst>
              <a:path h="417693" w="299979">
                <a:moveTo>
                  <a:pt x="0" y="0"/>
                </a:moveTo>
                <a:lnTo>
                  <a:pt x="299979" y="0"/>
                </a:lnTo>
                <a:lnTo>
                  <a:pt x="299979" y="417692"/>
                </a:lnTo>
                <a:lnTo>
                  <a:pt x="0" y="4176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3679482" y="5110512"/>
            <a:ext cx="853242" cy="853242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53725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06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3822360" y="5239357"/>
            <a:ext cx="506623" cy="506623"/>
          </a:xfrm>
          <a:custGeom>
            <a:avLst/>
            <a:gdLst/>
            <a:ahLst/>
            <a:cxnLst/>
            <a:rect r="r" b="b" t="t" l="l"/>
            <a:pathLst>
              <a:path h="506623" w="506623">
                <a:moveTo>
                  <a:pt x="0" y="0"/>
                </a:moveTo>
                <a:lnTo>
                  <a:pt x="506623" y="0"/>
                </a:lnTo>
                <a:lnTo>
                  <a:pt x="506623" y="506622"/>
                </a:lnTo>
                <a:lnTo>
                  <a:pt x="0" y="5066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-1754422" y="-3153513"/>
            <a:ext cx="10517029" cy="11698368"/>
            <a:chOff x="687070" y="247650"/>
            <a:chExt cx="11148060" cy="124002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148060" cy="12400280"/>
            </a:xfrm>
            <a:custGeom>
              <a:avLst/>
              <a:gdLst/>
              <a:ahLst/>
              <a:cxnLst/>
              <a:rect r="r" b="b" t="t" l="l"/>
              <a:pathLst>
                <a:path h="12400280" w="11148060">
                  <a:moveTo>
                    <a:pt x="9215120" y="1497330"/>
                  </a:moveTo>
                  <a:cubicBezTo>
                    <a:pt x="8773160" y="972820"/>
                    <a:pt x="8234680" y="508000"/>
                    <a:pt x="7590790" y="252730"/>
                  </a:cubicBezTo>
                  <a:cubicBezTo>
                    <a:pt x="7132320" y="71120"/>
                    <a:pt x="6633210" y="0"/>
                    <a:pt x="6139180" y="6350"/>
                  </a:cubicBezTo>
                  <a:cubicBezTo>
                    <a:pt x="4053840" y="36830"/>
                    <a:pt x="2157730" y="1490980"/>
                    <a:pt x="1289050" y="3346450"/>
                  </a:cubicBezTo>
                  <a:cubicBezTo>
                    <a:pt x="527050" y="4977130"/>
                    <a:pt x="0" y="7792720"/>
                    <a:pt x="680720" y="9457690"/>
                  </a:cubicBezTo>
                  <a:cubicBezTo>
                    <a:pt x="1360170" y="11122660"/>
                    <a:pt x="2499360" y="12005310"/>
                    <a:pt x="4248150" y="12081510"/>
                  </a:cubicBezTo>
                  <a:cubicBezTo>
                    <a:pt x="7001510" y="12400280"/>
                    <a:pt x="9088120" y="10502900"/>
                    <a:pt x="10118090" y="8309610"/>
                  </a:cubicBezTo>
                  <a:cubicBezTo>
                    <a:pt x="11148061" y="6116320"/>
                    <a:pt x="10782300" y="3361690"/>
                    <a:pt x="9215120" y="1497330"/>
                  </a:cubicBezTo>
                  <a:close/>
                </a:path>
              </a:pathLst>
            </a:custGeom>
            <a:blipFill>
              <a:blip r:embed="rId6"/>
              <a:stretch>
                <a:fillRect l="0" t="-14101" r="0" b="-14101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2329817">
            <a:off x="-3803200" y="4721949"/>
            <a:ext cx="12139522" cy="7275351"/>
          </a:xfrm>
          <a:custGeom>
            <a:avLst/>
            <a:gdLst/>
            <a:ahLst/>
            <a:cxnLst/>
            <a:rect r="r" b="b" t="t" l="l"/>
            <a:pathLst>
              <a:path h="7275351" w="12139522">
                <a:moveTo>
                  <a:pt x="0" y="0"/>
                </a:moveTo>
                <a:lnTo>
                  <a:pt x="12139522" y="0"/>
                </a:lnTo>
                <a:lnTo>
                  <a:pt x="12139522" y="7275351"/>
                </a:lnTo>
                <a:lnTo>
                  <a:pt x="0" y="727535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-76267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9713974" y="1057773"/>
            <a:ext cx="7762760" cy="2004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7000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INTRODUCTION</a:t>
            </a:r>
          </a:p>
          <a:p>
            <a:pPr algn="l" marL="0" indent="0" lvl="0">
              <a:lnSpc>
                <a:spcPts val="7840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9275824" y="2531409"/>
            <a:ext cx="8085238" cy="2961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4981" indent="-237491" lvl="1">
              <a:lnSpc>
                <a:spcPts val="2948"/>
              </a:lnSpc>
              <a:buFont typeface="Arial"/>
              <a:buChar char="•"/>
            </a:pPr>
            <a:r>
              <a:rPr lang="en-US" sz="2200">
                <a:solidFill>
                  <a:srgbClr val="F4F8FF"/>
                </a:solidFill>
                <a:latin typeface="Montserrat"/>
                <a:ea typeface="Montserrat"/>
                <a:cs typeface="Montserrat"/>
                <a:sym typeface="Montserrat"/>
              </a:rPr>
              <a:t>Manual processes in bike stores cause errors, delays, and inefficiency.</a:t>
            </a:r>
          </a:p>
          <a:p>
            <a:pPr algn="just">
              <a:lnSpc>
                <a:spcPts val="2948"/>
              </a:lnSpc>
            </a:pPr>
          </a:p>
          <a:p>
            <a:pPr algn="just" marL="474981" indent="-237491" lvl="1">
              <a:lnSpc>
                <a:spcPts val="2948"/>
              </a:lnSpc>
              <a:buFont typeface="Arial"/>
              <a:buChar char="•"/>
            </a:pPr>
            <a:r>
              <a:rPr lang="en-US" sz="2200">
                <a:solidFill>
                  <a:srgbClr val="F4F8FF"/>
                </a:solidFill>
                <a:latin typeface="Montserrat"/>
                <a:ea typeface="Montserrat"/>
                <a:cs typeface="Montserrat"/>
                <a:sym typeface="Montserrat"/>
              </a:rPr>
              <a:t>Need for a digital solution to manage sales, stock, and customer interactions.</a:t>
            </a:r>
          </a:p>
          <a:p>
            <a:pPr algn="l">
              <a:lnSpc>
                <a:spcPts val="2948"/>
              </a:lnSpc>
            </a:pPr>
          </a:p>
          <a:p>
            <a:pPr algn="l">
              <a:lnSpc>
                <a:spcPts val="2948"/>
              </a:lnSpc>
            </a:pPr>
          </a:p>
          <a:p>
            <a:pPr algn="l">
              <a:lnSpc>
                <a:spcPts val="2948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9644926" y="6189792"/>
            <a:ext cx="3673517" cy="1109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1"/>
              </a:lnSpc>
            </a:pPr>
            <a:r>
              <a:rPr lang="en-US" sz="1899" b="true">
                <a:solidFill>
                  <a:srgbClr val="F4F8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Goal:</a:t>
            </a:r>
            <a:r>
              <a:rPr lang="en-US" sz="1899">
                <a:solidFill>
                  <a:srgbClr val="F4F8FF"/>
                </a:solidFill>
                <a:latin typeface="Montserrat"/>
                <a:ea typeface="Montserrat"/>
                <a:cs typeface="Montserrat"/>
                <a:sym typeface="Montserrat"/>
              </a:rPr>
              <a:t> Provide speed, accuracy, and better user experience for both customers and managers.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595354" y="6180267"/>
            <a:ext cx="3797253" cy="585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9"/>
              </a:lnSpc>
            </a:pPr>
            <a:r>
              <a:rPr lang="en-US" sz="1957">
                <a:solidFill>
                  <a:srgbClr val="F4F8FF"/>
                </a:solidFill>
                <a:latin typeface="Montserrat"/>
                <a:ea typeface="Montserrat"/>
                <a:cs typeface="Montserrat"/>
                <a:sym typeface="Montserrat"/>
              </a:rPr>
              <a:t>Developed a web-based </a:t>
            </a:r>
            <a:r>
              <a:rPr lang="en-US" sz="1957" b="true">
                <a:solidFill>
                  <a:srgbClr val="F4F8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Bike Store Management System.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845659" y="8524243"/>
            <a:ext cx="3442341" cy="1560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2"/>
              </a:lnSpc>
            </a:pPr>
          </a:p>
          <a:p>
            <a:pPr algn="ctr">
              <a:lnSpc>
                <a:spcPts val="1552"/>
              </a:lnSpc>
            </a:pPr>
            <a:r>
              <a:rPr lang="en-US" sz="1108" spc="-3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Group :04</a:t>
            </a:r>
          </a:p>
          <a:p>
            <a:pPr algn="ctr">
              <a:lnSpc>
                <a:spcPts val="1552"/>
              </a:lnSpc>
            </a:pPr>
            <a:r>
              <a:rPr lang="en-US" sz="1108" spc="-3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Md. Nasim Ahmed ID: 2232936042</a:t>
            </a:r>
          </a:p>
          <a:p>
            <a:pPr algn="ctr">
              <a:lnSpc>
                <a:spcPts val="1552"/>
              </a:lnSpc>
            </a:pPr>
          </a:p>
          <a:p>
            <a:pPr algn="ctr">
              <a:lnSpc>
                <a:spcPts val="1552"/>
              </a:lnSpc>
              <a:spcBef>
                <a:spcPct val="0"/>
              </a:spcBef>
            </a:pPr>
            <a:r>
              <a:rPr lang="en-US" sz="1108" spc="-3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Md. Abi</a:t>
            </a:r>
            <a:r>
              <a:rPr lang="en-US" sz="1108" spc="-3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r Hasan ID: 2021833642</a:t>
            </a:r>
          </a:p>
          <a:p>
            <a:pPr algn="ctr">
              <a:lnSpc>
                <a:spcPts val="1552"/>
              </a:lnSpc>
              <a:spcBef>
                <a:spcPct val="0"/>
              </a:spcBef>
            </a:pPr>
          </a:p>
          <a:p>
            <a:pPr algn="ctr">
              <a:lnSpc>
                <a:spcPts val="1552"/>
              </a:lnSpc>
              <a:spcBef>
                <a:spcPct val="0"/>
              </a:spcBef>
            </a:pPr>
            <a:r>
              <a:rPr lang="en-US" sz="1108" spc="-3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Md Murad Ul Momin ID: 2232360642</a:t>
            </a:r>
          </a:p>
          <a:p>
            <a:pPr algn="ctr">
              <a:lnSpc>
                <a:spcPts val="155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1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81561" y="771201"/>
            <a:ext cx="15098626" cy="1736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50"/>
              </a:lnSpc>
            </a:pPr>
            <a:r>
              <a:rPr lang="en-US" b="true" sz="700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WHY DIFFERENT &amp; NEEDED</a:t>
            </a:r>
          </a:p>
          <a:p>
            <a:pPr algn="ctr" marL="0" indent="0" lvl="0">
              <a:lnSpc>
                <a:spcPts val="6650"/>
              </a:lnSpc>
              <a:spcBef>
                <a:spcPct val="0"/>
              </a:spcBef>
            </a:pPr>
          </a:p>
        </p:txBody>
      </p:sp>
      <p:sp>
        <p:nvSpPr>
          <p:cNvPr name="AutoShape 3" id="3"/>
          <p:cNvSpPr/>
          <p:nvPr/>
        </p:nvSpPr>
        <p:spPr>
          <a:xfrm flipH="true">
            <a:off x="2069584" y="1664935"/>
            <a:ext cx="14267" cy="2525656"/>
          </a:xfrm>
          <a:prstGeom prst="line">
            <a:avLst/>
          </a:prstGeom>
          <a:ln cap="flat" w="28575">
            <a:solidFill>
              <a:srgbClr val="FFFFFF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H="true">
            <a:off x="2076718" y="1572900"/>
            <a:ext cx="1312685" cy="1896"/>
          </a:xfrm>
          <a:prstGeom prst="line">
            <a:avLst/>
          </a:prstGeom>
          <a:ln cap="flat" w="28575">
            <a:solidFill>
              <a:srgbClr val="FFFFFF"/>
            </a:solidFill>
            <a:prstDash val="sysDash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989386" y="4403862"/>
            <a:ext cx="188930" cy="18893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86311" lIns="86311" bIns="86311" rIns="86311"/>
            <a:lstStyle/>
            <a:p>
              <a:pPr algn="ctr">
                <a:lnSpc>
                  <a:spcPts val="103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5529682" y="1712197"/>
            <a:ext cx="0" cy="1133489"/>
          </a:xfrm>
          <a:prstGeom prst="line">
            <a:avLst/>
          </a:prstGeom>
          <a:ln cap="flat" w="28575">
            <a:solidFill>
              <a:srgbClr val="FFFFFF"/>
            </a:solidFill>
            <a:prstDash val="sysDash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5420930" y="2979800"/>
            <a:ext cx="188930" cy="18893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86311" lIns="86311" bIns="86311" rIns="86311"/>
            <a:lstStyle/>
            <a:p>
              <a:pPr algn="ctr">
                <a:lnSpc>
                  <a:spcPts val="103"/>
                </a:lnSpc>
              </a:pPr>
            </a:p>
          </p:txBody>
        </p:sp>
      </p:grpSp>
      <p:sp>
        <p:nvSpPr>
          <p:cNvPr name="AutoShape 12" id="12"/>
          <p:cNvSpPr/>
          <p:nvPr/>
        </p:nvSpPr>
        <p:spPr>
          <a:xfrm>
            <a:off x="13093353" y="1664935"/>
            <a:ext cx="0" cy="1133489"/>
          </a:xfrm>
          <a:prstGeom prst="line">
            <a:avLst/>
          </a:prstGeom>
          <a:ln cap="flat" w="28575">
            <a:solidFill>
              <a:srgbClr val="FFFFFF"/>
            </a:solidFill>
            <a:prstDash val="sysDash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12998888" y="2885335"/>
            <a:ext cx="188930" cy="18893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86311" lIns="86311" bIns="86311" rIns="86311"/>
            <a:lstStyle/>
            <a:p>
              <a:pPr algn="ctr">
                <a:lnSpc>
                  <a:spcPts val="103"/>
                </a:lnSpc>
              </a:pPr>
            </a:p>
          </p:txBody>
        </p:sp>
      </p:grpSp>
      <p:sp>
        <p:nvSpPr>
          <p:cNvPr name="AutoShape 16" id="16"/>
          <p:cNvSpPr/>
          <p:nvPr/>
        </p:nvSpPr>
        <p:spPr>
          <a:xfrm flipH="true">
            <a:off x="15110130" y="1573848"/>
            <a:ext cx="1312685" cy="1896"/>
          </a:xfrm>
          <a:prstGeom prst="line">
            <a:avLst/>
          </a:prstGeom>
          <a:ln cap="flat" w="28575">
            <a:solidFill>
              <a:srgbClr val="FFFFFF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 flipH="true">
            <a:off x="16467573" y="1630583"/>
            <a:ext cx="16183" cy="2559919"/>
          </a:xfrm>
          <a:prstGeom prst="line">
            <a:avLst/>
          </a:prstGeom>
          <a:ln cap="flat" w="28575">
            <a:solidFill>
              <a:srgbClr val="FFFFFF"/>
            </a:solidFill>
            <a:prstDash val="sysDash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16373108" y="4310599"/>
            <a:ext cx="188930" cy="188930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06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5116504" y="3302080"/>
            <a:ext cx="826357" cy="685125"/>
          </a:xfrm>
          <a:custGeom>
            <a:avLst/>
            <a:gdLst/>
            <a:ahLst/>
            <a:cxnLst/>
            <a:rect r="r" b="b" t="t" l="l"/>
            <a:pathLst>
              <a:path h="685125" w="826357">
                <a:moveTo>
                  <a:pt x="0" y="0"/>
                </a:moveTo>
                <a:lnTo>
                  <a:pt x="826357" y="0"/>
                </a:lnTo>
                <a:lnTo>
                  <a:pt x="826357" y="685125"/>
                </a:lnTo>
                <a:lnTo>
                  <a:pt x="0" y="6851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6140591" y="4701632"/>
            <a:ext cx="653964" cy="883736"/>
          </a:xfrm>
          <a:custGeom>
            <a:avLst/>
            <a:gdLst/>
            <a:ahLst/>
            <a:cxnLst/>
            <a:rect r="r" b="b" t="t" l="l"/>
            <a:pathLst>
              <a:path h="883736" w="653964">
                <a:moveTo>
                  <a:pt x="0" y="0"/>
                </a:moveTo>
                <a:lnTo>
                  <a:pt x="653964" y="0"/>
                </a:lnTo>
                <a:lnTo>
                  <a:pt x="653964" y="883736"/>
                </a:lnTo>
                <a:lnTo>
                  <a:pt x="0" y="8837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710433" y="4893528"/>
            <a:ext cx="746835" cy="821519"/>
          </a:xfrm>
          <a:custGeom>
            <a:avLst/>
            <a:gdLst/>
            <a:ahLst/>
            <a:cxnLst/>
            <a:rect r="r" b="b" t="t" l="l"/>
            <a:pathLst>
              <a:path h="821519" w="746835">
                <a:moveTo>
                  <a:pt x="0" y="0"/>
                </a:moveTo>
                <a:lnTo>
                  <a:pt x="746836" y="0"/>
                </a:lnTo>
                <a:lnTo>
                  <a:pt x="746836" y="821519"/>
                </a:lnTo>
                <a:lnTo>
                  <a:pt x="0" y="8215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2762337" y="3187190"/>
            <a:ext cx="617145" cy="914905"/>
          </a:xfrm>
          <a:custGeom>
            <a:avLst/>
            <a:gdLst/>
            <a:ahLst/>
            <a:cxnLst/>
            <a:rect r="r" b="b" t="t" l="l"/>
            <a:pathLst>
              <a:path h="914905" w="617145">
                <a:moveTo>
                  <a:pt x="0" y="0"/>
                </a:moveTo>
                <a:lnTo>
                  <a:pt x="617146" y="0"/>
                </a:lnTo>
                <a:lnTo>
                  <a:pt x="617146" y="914905"/>
                </a:lnTo>
                <a:lnTo>
                  <a:pt x="0" y="9149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4950035" y="5496976"/>
            <a:ext cx="8387931" cy="3653895"/>
            <a:chOff x="0" y="0"/>
            <a:chExt cx="1419025" cy="61814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419025" cy="618146"/>
            </a:xfrm>
            <a:custGeom>
              <a:avLst/>
              <a:gdLst/>
              <a:ahLst/>
              <a:cxnLst/>
              <a:rect r="r" b="b" t="t" l="l"/>
              <a:pathLst>
                <a:path h="618146" w="1419025">
                  <a:moveTo>
                    <a:pt x="21229" y="0"/>
                  </a:moveTo>
                  <a:lnTo>
                    <a:pt x="1397797" y="0"/>
                  </a:lnTo>
                  <a:cubicBezTo>
                    <a:pt x="1403427" y="0"/>
                    <a:pt x="1408826" y="2237"/>
                    <a:pt x="1412808" y="6218"/>
                  </a:cubicBezTo>
                  <a:cubicBezTo>
                    <a:pt x="1416789" y="10199"/>
                    <a:pt x="1419025" y="15598"/>
                    <a:pt x="1419025" y="21229"/>
                  </a:cubicBezTo>
                  <a:lnTo>
                    <a:pt x="1419025" y="596918"/>
                  </a:lnTo>
                  <a:cubicBezTo>
                    <a:pt x="1419025" y="608642"/>
                    <a:pt x="1409521" y="618146"/>
                    <a:pt x="1397797" y="618146"/>
                  </a:cubicBezTo>
                  <a:lnTo>
                    <a:pt x="21229" y="618146"/>
                  </a:lnTo>
                  <a:cubicBezTo>
                    <a:pt x="15598" y="618146"/>
                    <a:pt x="10199" y="615910"/>
                    <a:pt x="6218" y="611929"/>
                  </a:cubicBezTo>
                  <a:cubicBezTo>
                    <a:pt x="2237" y="607948"/>
                    <a:pt x="0" y="602548"/>
                    <a:pt x="0" y="596918"/>
                  </a:cubicBezTo>
                  <a:lnTo>
                    <a:pt x="0" y="21229"/>
                  </a:lnTo>
                  <a:cubicBezTo>
                    <a:pt x="0" y="15598"/>
                    <a:pt x="2237" y="10199"/>
                    <a:pt x="6218" y="6218"/>
                  </a:cubicBezTo>
                  <a:cubicBezTo>
                    <a:pt x="10199" y="2237"/>
                    <a:pt x="15598" y="0"/>
                    <a:pt x="21229" y="0"/>
                  </a:cubicBezTo>
                  <a:close/>
                </a:path>
              </a:pathLst>
            </a:custGeom>
            <a:blipFill>
              <a:blip r:embed="rId10"/>
              <a:stretch>
                <a:fillRect l="0" t="0" r="0" b="-8937"/>
              </a:stretch>
            </a:blip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-171261" y="6162722"/>
            <a:ext cx="4989385" cy="405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5"/>
              </a:lnSpc>
            </a:pPr>
            <a:r>
              <a:rPr lang="en-US" sz="199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Small e-commerce sites lack</a:t>
            </a:r>
          </a:p>
          <a:p>
            <a:pPr algn="ctr">
              <a:lnSpc>
                <a:spcPts val="995"/>
              </a:lnSpc>
            </a:pPr>
          </a:p>
          <a:p>
            <a:pPr algn="ctr">
              <a:lnSpc>
                <a:spcPts val="995"/>
              </a:lnSpc>
            </a:pPr>
            <a:r>
              <a:rPr lang="en-US" sz="199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advanced features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144909" y="4461498"/>
            <a:ext cx="4740973" cy="594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6"/>
              </a:lnSpc>
            </a:pPr>
            <a:r>
              <a:rPr lang="en-US" sz="175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Large platf</a:t>
            </a:r>
            <a:r>
              <a:rPr lang="en-US" sz="175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orms are</a:t>
            </a:r>
          </a:p>
          <a:p>
            <a:pPr algn="ctr">
              <a:lnSpc>
                <a:spcPts val="876"/>
              </a:lnSpc>
            </a:pPr>
          </a:p>
          <a:p>
            <a:pPr algn="ctr">
              <a:lnSpc>
                <a:spcPts val="876"/>
              </a:lnSpc>
            </a:pPr>
            <a:r>
              <a:rPr lang="en-US" sz="175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complex and costly for</a:t>
            </a:r>
          </a:p>
          <a:p>
            <a:pPr algn="ctr">
              <a:lnSpc>
                <a:spcPts val="876"/>
              </a:lnSpc>
            </a:pPr>
          </a:p>
          <a:p>
            <a:pPr algn="ctr">
              <a:lnSpc>
                <a:spcPts val="876"/>
              </a:lnSpc>
            </a:pPr>
            <a:r>
              <a:rPr lang="en-US" sz="175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small retailers.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5077364" y="6143672"/>
            <a:ext cx="2812785" cy="2052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8"/>
              </a:lnSpc>
            </a:pPr>
            <a:r>
              <a:rPr lang="en-US" sz="177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It combines browsing,</a:t>
            </a:r>
          </a:p>
          <a:p>
            <a:pPr algn="ctr">
              <a:lnSpc>
                <a:spcPts val="888"/>
              </a:lnSpc>
            </a:pPr>
          </a:p>
          <a:p>
            <a:pPr algn="ctr">
              <a:lnSpc>
                <a:spcPts val="888"/>
              </a:lnSpc>
            </a:pPr>
            <a:r>
              <a:rPr lang="en-US" sz="177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booking, tracking, and</a:t>
            </a:r>
          </a:p>
          <a:p>
            <a:pPr algn="ctr">
              <a:lnSpc>
                <a:spcPts val="888"/>
              </a:lnSpc>
            </a:pPr>
          </a:p>
          <a:p>
            <a:pPr algn="ctr">
              <a:lnSpc>
                <a:spcPts val="888"/>
              </a:lnSpc>
            </a:pPr>
            <a:r>
              <a:rPr lang="en-US" sz="177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invoicing.</a:t>
            </a:r>
          </a:p>
          <a:p>
            <a:pPr algn="ctr">
              <a:lnSpc>
                <a:spcPts val="888"/>
              </a:lnSpc>
            </a:pPr>
          </a:p>
          <a:p>
            <a:pPr algn="ctr">
              <a:lnSpc>
                <a:spcPts val="888"/>
              </a:lnSpc>
            </a:pPr>
          </a:p>
          <a:p>
            <a:pPr algn="ctr">
              <a:lnSpc>
                <a:spcPts val="888"/>
              </a:lnSpc>
            </a:pPr>
          </a:p>
          <a:p>
            <a:pPr algn="ctr">
              <a:lnSpc>
                <a:spcPts val="888"/>
              </a:lnSpc>
            </a:pPr>
          </a:p>
          <a:p>
            <a:pPr algn="ctr">
              <a:lnSpc>
                <a:spcPts val="888"/>
              </a:lnSpc>
            </a:pPr>
          </a:p>
          <a:p>
            <a:pPr algn="ctr">
              <a:lnSpc>
                <a:spcPts val="888"/>
              </a:lnSpc>
            </a:pPr>
          </a:p>
          <a:p>
            <a:pPr algn="ctr">
              <a:lnSpc>
                <a:spcPts val="888"/>
              </a:lnSpc>
            </a:pPr>
          </a:p>
          <a:p>
            <a:pPr algn="ctr">
              <a:lnSpc>
                <a:spcPts val="888"/>
              </a:lnSpc>
            </a:pPr>
          </a:p>
          <a:p>
            <a:pPr algn="ctr">
              <a:lnSpc>
                <a:spcPts val="888"/>
              </a:lnSpc>
            </a:pPr>
          </a:p>
          <a:p>
            <a:pPr algn="ctr">
              <a:lnSpc>
                <a:spcPts val="888"/>
              </a:lnSpc>
            </a:pPr>
          </a:p>
          <a:p>
            <a:pPr algn="ctr">
              <a:lnSpc>
                <a:spcPts val="888"/>
              </a:lnSpc>
            </a:pPr>
          </a:p>
          <a:p>
            <a:pPr algn="ctr">
              <a:lnSpc>
                <a:spcPts val="888"/>
              </a:lnSpc>
            </a:pPr>
          </a:p>
          <a:p>
            <a:pPr algn="ctr">
              <a:lnSpc>
                <a:spcPts val="888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11080284" y="4461498"/>
            <a:ext cx="4598398" cy="787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9"/>
              </a:lnSpc>
            </a:pPr>
            <a:r>
              <a:rPr lang="en-US" sz="16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Ou</a:t>
            </a:r>
            <a:r>
              <a:rPr lang="en-US" sz="16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r system fills these</a:t>
            </a:r>
          </a:p>
          <a:p>
            <a:pPr algn="ctr">
              <a:lnSpc>
                <a:spcPts val="849"/>
              </a:lnSpc>
            </a:pPr>
          </a:p>
          <a:p>
            <a:pPr algn="ctr">
              <a:lnSpc>
                <a:spcPts val="849"/>
              </a:lnSpc>
            </a:pPr>
            <a:r>
              <a:rPr lang="en-US" sz="16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gaps with</a:t>
            </a:r>
          </a:p>
          <a:p>
            <a:pPr algn="ctr">
              <a:lnSpc>
                <a:spcPts val="849"/>
              </a:lnSpc>
            </a:pPr>
          </a:p>
          <a:p>
            <a:pPr algn="ctr">
              <a:lnSpc>
                <a:spcPts val="849"/>
              </a:lnSpc>
            </a:pPr>
            <a:r>
              <a:rPr lang="en-US" sz="16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specialized, user-</a:t>
            </a:r>
          </a:p>
          <a:p>
            <a:pPr algn="ctr">
              <a:lnSpc>
                <a:spcPts val="849"/>
              </a:lnSpc>
            </a:pPr>
          </a:p>
          <a:p>
            <a:pPr algn="ctr">
              <a:lnSpc>
                <a:spcPts val="849"/>
              </a:lnSpc>
            </a:pPr>
            <a:r>
              <a:rPr lang="en-US" sz="16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friendly design.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845659" y="8524243"/>
            <a:ext cx="3442341" cy="1560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2"/>
              </a:lnSpc>
            </a:pPr>
          </a:p>
          <a:p>
            <a:pPr algn="ctr">
              <a:lnSpc>
                <a:spcPts val="1552"/>
              </a:lnSpc>
            </a:pPr>
            <a:r>
              <a:rPr lang="en-US" sz="1108" spc="-3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Group :04</a:t>
            </a:r>
          </a:p>
          <a:p>
            <a:pPr algn="ctr">
              <a:lnSpc>
                <a:spcPts val="1552"/>
              </a:lnSpc>
            </a:pPr>
            <a:r>
              <a:rPr lang="en-US" sz="1108" spc="-3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Md. Nasim Ahmed ID: 2232936042</a:t>
            </a:r>
          </a:p>
          <a:p>
            <a:pPr algn="ctr">
              <a:lnSpc>
                <a:spcPts val="1552"/>
              </a:lnSpc>
            </a:pPr>
          </a:p>
          <a:p>
            <a:pPr algn="ctr">
              <a:lnSpc>
                <a:spcPts val="1552"/>
              </a:lnSpc>
              <a:spcBef>
                <a:spcPct val="0"/>
              </a:spcBef>
            </a:pPr>
            <a:r>
              <a:rPr lang="en-US" sz="1108" spc="-3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Md. Abi</a:t>
            </a:r>
            <a:r>
              <a:rPr lang="en-US" sz="1108" spc="-3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r Hasan ID: 2021833642</a:t>
            </a:r>
          </a:p>
          <a:p>
            <a:pPr algn="ctr">
              <a:lnSpc>
                <a:spcPts val="1552"/>
              </a:lnSpc>
              <a:spcBef>
                <a:spcPct val="0"/>
              </a:spcBef>
            </a:pPr>
          </a:p>
          <a:p>
            <a:pPr algn="ctr">
              <a:lnSpc>
                <a:spcPts val="1552"/>
              </a:lnSpc>
              <a:spcBef>
                <a:spcPct val="0"/>
              </a:spcBef>
            </a:pPr>
            <a:r>
              <a:rPr lang="en-US" sz="1108" spc="-3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Md Murad Ul Momin ID: 2232360642</a:t>
            </a:r>
          </a:p>
          <a:p>
            <a:pPr algn="ctr">
              <a:lnSpc>
                <a:spcPts val="155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1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186850" y="4307574"/>
            <a:ext cx="0" cy="3512506"/>
          </a:xfrm>
          <a:prstGeom prst="line">
            <a:avLst/>
          </a:prstGeom>
          <a:ln cap="flat" w="28575">
            <a:solidFill>
              <a:srgbClr val="F5372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063497" y="4060867"/>
            <a:ext cx="246707" cy="246707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104"/>
            </a:solidFill>
            <a:ln w="28575" cap="sq">
              <a:solidFill>
                <a:srgbClr val="F53725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27093" lIns="27093" bIns="27093" rIns="27093"/>
            <a:lstStyle/>
            <a:p>
              <a:pPr algn="ctr">
                <a:lnSpc>
                  <a:spcPts val="7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63497" y="5246559"/>
            <a:ext cx="246707" cy="24670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104"/>
            </a:solidFill>
            <a:ln w="28575" cap="sq">
              <a:solidFill>
                <a:srgbClr val="F53725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27093" lIns="27093" bIns="27093" rIns="27093"/>
            <a:lstStyle/>
            <a:p>
              <a:pPr algn="ctr">
                <a:lnSpc>
                  <a:spcPts val="74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63497" y="6432251"/>
            <a:ext cx="246707" cy="24670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104"/>
            </a:solidFill>
            <a:ln w="28575" cap="sq">
              <a:solidFill>
                <a:srgbClr val="F53725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27093" lIns="27093" bIns="27093" rIns="27093"/>
            <a:lstStyle/>
            <a:p>
              <a:pPr algn="ctr">
                <a:lnSpc>
                  <a:spcPts val="74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63497" y="7617943"/>
            <a:ext cx="246707" cy="246707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104"/>
            </a:solidFill>
            <a:ln w="28575" cap="sq">
              <a:solidFill>
                <a:srgbClr val="F53725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27093" lIns="27093" bIns="27093" rIns="27093"/>
            <a:lstStyle/>
            <a:p>
              <a:pPr algn="ctr">
                <a:lnSpc>
                  <a:spcPts val="74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-2256539">
            <a:off x="11062401" y="-4798438"/>
            <a:ext cx="12393798" cy="8968603"/>
          </a:xfrm>
          <a:custGeom>
            <a:avLst/>
            <a:gdLst/>
            <a:ahLst/>
            <a:cxnLst/>
            <a:rect r="r" b="b" t="t" l="l"/>
            <a:pathLst>
              <a:path h="8968603" w="12393798">
                <a:moveTo>
                  <a:pt x="0" y="0"/>
                </a:moveTo>
                <a:lnTo>
                  <a:pt x="12393798" y="0"/>
                </a:lnTo>
                <a:lnTo>
                  <a:pt x="12393798" y="8968602"/>
                </a:lnTo>
                <a:lnTo>
                  <a:pt x="0" y="89686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0496289" y="1028700"/>
            <a:ext cx="4713076" cy="2604522"/>
            <a:chOff x="0" y="0"/>
            <a:chExt cx="1470822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70822" cy="812800"/>
            </a:xfrm>
            <a:custGeom>
              <a:avLst/>
              <a:gdLst/>
              <a:ahLst/>
              <a:cxnLst/>
              <a:rect r="r" b="b" t="t" l="l"/>
              <a:pathLst>
                <a:path h="812800" w="1470822">
                  <a:moveTo>
                    <a:pt x="52565" y="0"/>
                  </a:moveTo>
                  <a:lnTo>
                    <a:pt x="1418257" y="0"/>
                  </a:lnTo>
                  <a:cubicBezTo>
                    <a:pt x="1432198" y="0"/>
                    <a:pt x="1445568" y="5538"/>
                    <a:pt x="1455426" y="15396"/>
                  </a:cubicBezTo>
                  <a:cubicBezTo>
                    <a:pt x="1465284" y="25254"/>
                    <a:pt x="1470822" y="38624"/>
                    <a:pt x="1470822" y="52565"/>
                  </a:cubicBezTo>
                  <a:lnTo>
                    <a:pt x="1470822" y="760235"/>
                  </a:lnTo>
                  <a:cubicBezTo>
                    <a:pt x="1470822" y="774176"/>
                    <a:pt x="1465284" y="787546"/>
                    <a:pt x="1455426" y="797404"/>
                  </a:cubicBezTo>
                  <a:cubicBezTo>
                    <a:pt x="1445568" y="807262"/>
                    <a:pt x="1432198" y="812800"/>
                    <a:pt x="1418257" y="812800"/>
                  </a:cubicBezTo>
                  <a:lnTo>
                    <a:pt x="52565" y="812800"/>
                  </a:lnTo>
                  <a:cubicBezTo>
                    <a:pt x="38624" y="812800"/>
                    <a:pt x="25254" y="807262"/>
                    <a:pt x="15396" y="797404"/>
                  </a:cubicBezTo>
                  <a:cubicBezTo>
                    <a:pt x="5538" y="787546"/>
                    <a:pt x="0" y="774176"/>
                    <a:pt x="0" y="760235"/>
                  </a:cubicBezTo>
                  <a:lnTo>
                    <a:pt x="0" y="52565"/>
                  </a:lnTo>
                  <a:cubicBezTo>
                    <a:pt x="0" y="38624"/>
                    <a:pt x="5538" y="25254"/>
                    <a:pt x="15396" y="15396"/>
                  </a:cubicBezTo>
                  <a:cubicBezTo>
                    <a:pt x="25254" y="5538"/>
                    <a:pt x="38624" y="0"/>
                    <a:pt x="52565" y="0"/>
                  </a:cubicBezTo>
                  <a:close/>
                </a:path>
              </a:pathLst>
            </a:custGeom>
            <a:blipFill>
              <a:blip r:embed="rId4"/>
              <a:stretch>
                <a:fillRect l="-7783" t="0" r="-7783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3091882" y="3861305"/>
            <a:ext cx="4853676" cy="2564391"/>
            <a:chOff x="0" y="0"/>
            <a:chExt cx="1538403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38403" cy="812800"/>
            </a:xfrm>
            <a:custGeom>
              <a:avLst/>
              <a:gdLst/>
              <a:ahLst/>
              <a:cxnLst/>
              <a:rect r="r" b="b" t="t" l="l"/>
              <a:pathLst>
                <a:path h="812800" w="1538403">
                  <a:moveTo>
                    <a:pt x="59017" y="0"/>
                  </a:moveTo>
                  <a:lnTo>
                    <a:pt x="1479386" y="0"/>
                  </a:lnTo>
                  <a:cubicBezTo>
                    <a:pt x="1495038" y="0"/>
                    <a:pt x="1510050" y="6218"/>
                    <a:pt x="1521118" y="17286"/>
                  </a:cubicBezTo>
                  <a:cubicBezTo>
                    <a:pt x="1532186" y="28354"/>
                    <a:pt x="1538403" y="43365"/>
                    <a:pt x="1538403" y="59017"/>
                  </a:cubicBezTo>
                  <a:lnTo>
                    <a:pt x="1538403" y="753783"/>
                  </a:lnTo>
                  <a:cubicBezTo>
                    <a:pt x="1538403" y="769435"/>
                    <a:pt x="1532186" y="784446"/>
                    <a:pt x="1521118" y="795514"/>
                  </a:cubicBezTo>
                  <a:cubicBezTo>
                    <a:pt x="1510050" y="806582"/>
                    <a:pt x="1495038" y="812800"/>
                    <a:pt x="1479386" y="812800"/>
                  </a:cubicBezTo>
                  <a:lnTo>
                    <a:pt x="59017" y="812800"/>
                  </a:lnTo>
                  <a:cubicBezTo>
                    <a:pt x="43365" y="812800"/>
                    <a:pt x="28354" y="806582"/>
                    <a:pt x="17286" y="795514"/>
                  </a:cubicBezTo>
                  <a:cubicBezTo>
                    <a:pt x="6218" y="784446"/>
                    <a:pt x="0" y="769435"/>
                    <a:pt x="0" y="753783"/>
                  </a:cubicBezTo>
                  <a:lnTo>
                    <a:pt x="0" y="59017"/>
                  </a:lnTo>
                  <a:cubicBezTo>
                    <a:pt x="0" y="43365"/>
                    <a:pt x="6218" y="28354"/>
                    <a:pt x="17286" y="17286"/>
                  </a:cubicBezTo>
                  <a:cubicBezTo>
                    <a:pt x="28354" y="6218"/>
                    <a:pt x="43365" y="0"/>
                    <a:pt x="59017" y="0"/>
                  </a:cubicBezTo>
                  <a:close/>
                </a:path>
              </a:pathLst>
            </a:custGeom>
            <a:blipFill>
              <a:blip r:embed="rId5"/>
              <a:stretch>
                <a:fillRect l="-5455" t="0" r="-5455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355689" y="6746987"/>
            <a:ext cx="4853676" cy="2564391"/>
            <a:chOff x="0" y="0"/>
            <a:chExt cx="1538403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38403" cy="812800"/>
            </a:xfrm>
            <a:custGeom>
              <a:avLst/>
              <a:gdLst/>
              <a:ahLst/>
              <a:cxnLst/>
              <a:rect r="r" b="b" t="t" l="l"/>
              <a:pathLst>
                <a:path h="812800" w="1538403">
                  <a:moveTo>
                    <a:pt x="59017" y="0"/>
                  </a:moveTo>
                  <a:lnTo>
                    <a:pt x="1479386" y="0"/>
                  </a:lnTo>
                  <a:cubicBezTo>
                    <a:pt x="1495038" y="0"/>
                    <a:pt x="1510050" y="6218"/>
                    <a:pt x="1521118" y="17286"/>
                  </a:cubicBezTo>
                  <a:cubicBezTo>
                    <a:pt x="1532186" y="28354"/>
                    <a:pt x="1538403" y="43365"/>
                    <a:pt x="1538403" y="59017"/>
                  </a:cubicBezTo>
                  <a:lnTo>
                    <a:pt x="1538403" y="753783"/>
                  </a:lnTo>
                  <a:cubicBezTo>
                    <a:pt x="1538403" y="769435"/>
                    <a:pt x="1532186" y="784446"/>
                    <a:pt x="1521118" y="795514"/>
                  </a:cubicBezTo>
                  <a:cubicBezTo>
                    <a:pt x="1510050" y="806582"/>
                    <a:pt x="1495038" y="812800"/>
                    <a:pt x="1479386" y="812800"/>
                  </a:cubicBezTo>
                  <a:lnTo>
                    <a:pt x="59017" y="812800"/>
                  </a:lnTo>
                  <a:cubicBezTo>
                    <a:pt x="43365" y="812800"/>
                    <a:pt x="28354" y="806582"/>
                    <a:pt x="17286" y="795514"/>
                  </a:cubicBezTo>
                  <a:cubicBezTo>
                    <a:pt x="6218" y="784446"/>
                    <a:pt x="0" y="769435"/>
                    <a:pt x="0" y="753783"/>
                  </a:cubicBezTo>
                  <a:lnTo>
                    <a:pt x="0" y="59017"/>
                  </a:lnTo>
                  <a:cubicBezTo>
                    <a:pt x="0" y="43365"/>
                    <a:pt x="6218" y="28354"/>
                    <a:pt x="17286" y="17286"/>
                  </a:cubicBezTo>
                  <a:cubicBezTo>
                    <a:pt x="28354" y="6218"/>
                    <a:pt x="43365" y="0"/>
                    <a:pt x="59017" y="0"/>
                  </a:cubicBezTo>
                  <a:close/>
                </a:path>
              </a:pathLst>
            </a:custGeom>
            <a:blipFill>
              <a:blip r:embed="rId6"/>
              <a:stretch>
                <a:fillRect l="-6658" t="0" r="-6658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514951" y="4281476"/>
            <a:ext cx="8981338" cy="481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7"/>
              </a:lnSpc>
            </a:pPr>
            <a:r>
              <a:rPr lang="en-US" sz="157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Client–server model, frontend (HTML, CSS, JS), backend (PHP, MySQL, Python).</a:t>
            </a:r>
          </a:p>
          <a:p>
            <a:pPr algn="l" marL="0" indent="0" lvl="0">
              <a:lnSpc>
                <a:spcPts val="1917"/>
              </a:lnSpc>
              <a:spcBef>
                <a:spcPct val="0"/>
              </a:spcBef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1514951" y="5290870"/>
            <a:ext cx="7901010" cy="481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17"/>
              </a:lnSpc>
              <a:spcBef>
                <a:spcPct val="0"/>
              </a:spcBef>
            </a:pPr>
            <a:r>
              <a:rPr lang="en-US" sz="157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Signup/login, brows</a:t>
            </a:r>
            <a:r>
              <a:rPr lang="en-US" sz="157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 &amp; filter products, compare bikes, </a:t>
            </a:r>
          </a:p>
          <a:p>
            <a:pPr algn="l" marL="0" indent="0" lvl="0">
              <a:lnSpc>
                <a:spcPts val="1917"/>
              </a:lnSpc>
              <a:spcBef>
                <a:spcPct val="0"/>
              </a:spcBef>
            </a:pPr>
            <a:r>
              <a:rPr lang="en-US" sz="157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cart &amp; recommendations, profile management.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14951" y="4028193"/>
            <a:ext cx="2200775" cy="156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31"/>
              </a:lnSpc>
              <a:spcBef>
                <a:spcPct val="0"/>
              </a:spcBef>
            </a:pPr>
            <a:r>
              <a:rPr lang="en-US" sz="186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Architect</a:t>
            </a:r>
            <a:r>
              <a:rPr lang="en-US" sz="186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ure: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14951" y="5039484"/>
            <a:ext cx="2704953" cy="158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31"/>
              </a:lnSpc>
              <a:spcBef>
                <a:spcPct val="0"/>
              </a:spcBef>
            </a:pPr>
            <a:r>
              <a:rPr lang="en-US" sz="186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Custom</a:t>
            </a:r>
            <a:r>
              <a:rPr lang="en-US" sz="1862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er Features: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56269" y="6284822"/>
            <a:ext cx="2514642" cy="158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31"/>
              </a:lnSpc>
              <a:spcBef>
                <a:spcPct val="0"/>
              </a:spcBef>
            </a:pPr>
            <a:r>
              <a:rPr lang="en-US" sz="1862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Manager Features: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56269" y="7534428"/>
            <a:ext cx="3014482" cy="156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31"/>
              </a:lnSpc>
              <a:spcBef>
                <a:spcPct val="0"/>
              </a:spcBef>
            </a:pPr>
            <a:r>
              <a:rPr lang="en-US" sz="186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Database Integr</a:t>
            </a:r>
            <a:r>
              <a:rPr lang="en-US" sz="1862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ation: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514951" y="6538295"/>
            <a:ext cx="6981978" cy="481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17"/>
              </a:lnSpc>
              <a:spcBef>
                <a:spcPct val="0"/>
              </a:spcBef>
            </a:pPr>
            <a:r>
              <a:rPr lang="en-US" sz="157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Dashboard</a:t>
            </a:r>
            <a:r>
              <a:rPr lang="en-US" sz="157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for sales, add/update/remove products, customer info, generate invoices &amp; reports.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556269" y="7783529"/>
            <a:ext cx="6940660" cy="481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17"/>
              </a:lnSpc>
              <a:spcBef>
                <a:spcPct val="0"/>
              </a:spcBef>
            </a:pPr>
            <a:r>
              <a:rPr lang="en-US" sz="157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All products, sales, and customer data stored securely in MySQL.</a:t>
            </a:r>
          </a:p>
          <a:p>
            <a:pPr algn="l" marL="0" indent="0" lvl="0">
              <a:lnSpc>
                <a:spcPts val="1917"/>
              </a:lnSpc>
              <a:spcBef>
                <a:spcPct val="0"/>
              </a:spcBef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1028700" y="586092"/>
            <a:ext cx="7888368" cy="2574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50"/>
              </a:lnSpc>
              <a:spcBef>
                <a:spcPct val="0"/>
              </a:spcBef>
            </a:pPr>
            <a:r>
              <a:rPr lang="en-US" sz="70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M</a:t>
            </a:r>
            <a:r>
              <a:rPr lang="en-US" sz="7000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ETHODOLOGY (FEATURES)</a:t>
            </a:r>
          </a:p>
          <a:p>
            <a:pPr algn="l" marL="0" indent="0" lvl="0">
              <a:lnSpc>
                <a:spcPts val="6650"/>
              </a:lnSpc>
              <a:spcBef>
                <a:spcPct val="0"/>
              </a:spcBef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15209365" y="8521762"/>
            <a:ext cx="3442341" cy="1560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2"/>
              </a:lnSpc>
            </a:pPr>
          </a:p>
          <a:p>
            <a:pPr algn="ctr">
              <a:lnSpc>
                <a:spcPts val="1552"/>
              </a:lnSpc>
            </a:pPr>
            <a:r>
              <a:rPr lang="en-US" sz="1108" spc="-3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Group :04</a:t>
            </a:r>
          </a:p>
          <a:p>
            <a:pPr algn="ctr">
              <a:lnSpc>
                <a:spcPts val="1552"/>
              </a:lnSpc>
            </a:pPr>
            <a:r>
              <a:rPr lang="en-US" sz="1108" spc="-3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Md. Nasim Ahmed ID: 2232936042</a:t>
            </a:r>
          </a:p>
          <a:p>
            <a:pPr algn="ctr">
              <a:lnSpc>
                <a:spcPts val="1552"/>
              </a:lnSpc>
            </a:pPr>
          </a:p>
          <a:p>
            <a:pPr algn="ctr">
              <a:lnSpc>
                <a:spcPts val="1552"/>
              </a:lnSpc>
              <a:spcBef>
                <a:spcPct val="0"/>
              </a:spcBef>
            </a:pPr>
            <a:r>
              <a:rPr lang="en-US" sz="1108" spc="-3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Md. Abi</a:t>
            </a:r>
            <a:r>
              <a:rPr lang="en-US" sz="1108" spc="-3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r Hasan ID: 2021833642</a:t>
            </a:r>
          </a:p>
          <a:p>
            <a:pPr algn="ctr">
              <a:lnSpc>
                <a:spcPts val="1552"/>
              </a:lnSpc>
              <a:spcBef>
                <a:spcPct val="0"/>
              </a:spcBef>
            </a:pPr>
          </a:p>
          <a:p>
            <a:pPr algn="ctr">
              <a:lnSpc>
                <a:spcPts val="1552"/>
              </a:lnSpc>
              <a:spcBef>
                <a:spcPct val="0"/>
              </a:spcBef>
            </a:pPr>
            <a:r>
              <a:rPr lang="en-US" sz="1108" spc="-3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Md Murad Ul Momin ID: 2232360642</a:t>
            </a:r>
          </a:p>
          <a:p>
            <a:pPr algn="ctr">
              <a:lnSpc>
                <a:spcPts val="155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1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898846">
            <a:off x="-3656258" y="-3756073"/>
            <a:ext cx="19308321" cy="6564829"/>
          </a:xfrm>
          <a:custGeom>
            <a:avLst/>
            <a:gdLst/>
            <a:ahLst/>
            <a:cxnLst/>
            <a:rect r="r" b="b" t="t" l="l"/>
            <a:pathLst>
              <a:path h="6564829" w="19308321">
                <a:moveTo>
                  <a:pt x="0" y="0"/>
                </a:moveTo>
                <a:lnTo>
                  <a:pt x="19308320" y="0"/>
                </a:lnTo>
                <a:lnTo>
                  <a:pt x="19308320" y="6564829"/>
                </a:lnTo>
                <a:lnTo>
                  <a:pt x="0" y="65648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88482" y="587220"/>
            <a:ext cx="6918653" cy="8795964"/>
            <a:chOff x="-2540" y="-1270"/>
            <a:chExt cx="4329430" cy="550418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329430" cy="5504180"/>
            </a:xfrm>
            <a:custGeom>
              <a:avLst/>
              <a:gdLst/>
              <a:ahLst/>
              <a:cxnLst/>
              <a:rect r="r" b="b" t="t" l="l"/>
              <a:pathLst>
                <a:path h="5504180" w="4329430">
                  <a:moveTo>
                    <a:pt x="2216150" y="5504180"/>
                  </a:moveTo>
                  <a:cubicBezTo>
                    <a:pt x="2186940" y="5504180"/>
                    <a:pt x="2157730" y="5504180"/>
                    <a:pt x="2129790" y="5504180"/>
                  </a:cubicBezTo>
                  <a:cubicBezTo>
                    <a:pt x="2123440" y="5502910"/>
                    <a:pt x="2118360" y="5501640"/>
                    <a:pt x="2112010" y="5501640"/>
                  </a:cubicBezTo>
                  <a:cubicBezTo>
                    <a:pt x="2038350" y="5497830"/>
                    <a:pt x="1967230" y="5485130"/>
                    <a:pt x="1897380" y="5463540"/>
                  </a:cubicBezTo>
                  <a:cubicBezTo>
                    <a:pt x="1772920" y="5425440"/>
                    <a:pt x="1657350" y="5367020"/>
                    <a:pt x="1548130" y="5295900"/>
                  </a:cubicBezTo>
                  <a:cubicBezTo>
                    <a:pt x="1423670" y="5215890"/>
                    <a:pt x="1294130" y="5143500"/>
                    <a:pt x="1160780" y="5081270"/>
                  </a:cubicBezTo>
                  <a:cubicBezTo>
                    <a:pt x="1040130" y="5025390"/>
                    <a:pt x="914400" y="4980940"/>
                    <a:pt x="791210" y="4933950"/>
                  </a:cubicBezTo>
                  <a:cubicBezTo>
                    <a:pt x="633730" y="4874260"/>
                    <a:pt x="492760" y="4785360"/>
                    <a:pt x="373380" y="4665980"/>
                  </a:cubicBezTo>
                  <a:cubicBezTo>
                    <a:pt x="320040" y="4612640"/>
                    <a:pt x="274320" y="4551680"/>
                    <a:pt x="227330" y="4491990"/>
                  </a:cubicBezTo>
                  <a:cubicBezTo>
                    <a:pt x="173990" y="4424680"/>
                    <a:pt x="127000" y="4353560"/>
                    <a:pt x="95250" y="4273550"/>
                  </a:cubicBezTo>
                  <a:cubicBezTo>
                    <a:pt x="31750" y="4117340"/>
                    <a:pt x="0" y="3954780"/>
                    <a:pt x="2540" y="3785870"/>
                  </a:cubicBezTo>
                  <a:cubicBezTo>
                    <a:pt x="6350" y="3604260"/>
                    <a:pt x="29210" y="3426460"/>
                    <a:pt x="92710" y="3256280"/>
                  </a:cubicBezTo>
                  <a:cubicBezTo>
                    <a:pt x="189230" y="2992120"/>
                    <a:pt x="354330" y="2782570"/>
                    <a:pt x="590550" y="2632710"/>
                  </a:cubicBezTo>
                  <a:cubicBezTo>
                    <a:pt x="715010" y="2552700"/>
                    <a:pt x="853440" y="2501900"/>
                    <a:pt x="995680" y="2463800"/>
                  </a:cubicBezTo>
                  <a:cubicBezTo>
                    <a:pt x="1122680" y="2429510"/>
                    <a:pt x="1250950" y="2400300"/>
                    <a:pt x="1379220" y="2369820"/>
                  </a:cubicBezTo>
                  <a:cubicBezTo>
                    <a:pt x="1526540" y="2334260"/>
                    <a:pt x="1653540" y="2261870"/>
                    <a:pt x="1758950" y="2152650"/>
                  </a:cubicBezTo>
                  <a:cubicBezTo>
                    <a:pt x="1841500" y="2066290"/>
                    <a:pt x="1905000" y="1968500"/>
                    <a:pt x="1955800" y="1860550"/>
                  </a:cubicBezTo>
                  <a:cubicBezTo>
                    <a:pt x="2026920" y="1708150"/>
                    <a:pt x="2096770" y="1555750"/>
                    <a:pt x="2167890" y="1404620"/>
                  </a:cubicBezTo>
                  <a:cubicBezTo>
                    <a:pt x="2232660" y="1267460"/>
                    <a:pt x="2307590" y="1135380"/>
                    <a:pt x="2401570" y="1016000"/>
                  </a:cubicBezTo>
                  <a:cubicBezTo>
                    <a:pt x="2482850" y="913130"/>
                    <a:pt x="2573020" y="821690"/>
                    <a:pt x="2687320" y="754380"/>
                  </a:cubicBezTo>
                  <a:cubicBezTo>
                    <a:pt x="2792730" y="693420"/>
                    <a:pt x="2907030" y="656590"/>
                    <a:pt x="3025140" y="631190"/>
                  </a:cubicBezTo>
                  <a:cubicBezTo>
                    <a:pt x="3108960" y="613410"/>
                    <a:pt x="3192780" y="596900"/>
                    <a:pt x="3279140" y="596900"/>
                  </a:cubicBezTo>
                  <a:cubicBezTo>
                    <a:pt x="3397250" y="595630"/>
                    <a:pt x="3512820" y="617220"/>
                    <a:pt x="3624580" y="655320"/>
                  </a:cubicBezTo>
                  <a:cubicBezTo>
                    <a:pt x="3712210" y="684530"/>
                    <a:pt x="3793490" y="722630"/>
                    <a:pt x="3863340" y="784860"/>
                  </a:cubicBezTo>
                  <a:cubicBezTo>
                    <a:pt x="3963670" y="873760"/>
                    <a:pt x="4042410" y="980440"/>
                    <a:pt x="4107180" y="1096010"/>
                  </a:cubicBezTo>
                  <a:cubicBezTo>
                    <a:pt x="4161790" y="1192530"/>
                    <a:pt x="4201160" y="1294130"/>
                    <a:pt x="4232910" y="1399540"/>
                  </a:cubicBezTo>
                  <a:cubicBezTo>
                    <a:pt x="4281170" y="1554480"/>
                    <a:pt x="4312920" y="1713230"/>
                    <a:pt x="4323080" y="1875790"/>
                  </a:cubicBezTo>
                  <a:cubicBezTo>
                    <a:pt x="4324350" y="1894840"/>
                    <a:pt x="4326890" y="1913890"/>
                    <a:pt x="4329430" y="1932940"/>
                  </a:cubicBezTo>
                  <a:cubicBezTo>
                    <a:pt x="4329430" y="1998980"/>
                    <a:pt x="4329430" y="2066290"/>
                    <a:pt x="4329430" y="2132330"/>
                  </a:cubicBezTo>
                  <a:cubicBezTo>
                    <a:pt x="4328160" y="2139950"/>
                    <a:pt x="4326890" y="2147570"/>
                    <a:pt x="4326890" y="2153920"/>
                  </a:cubicBezTo>
                  <a:cubicBezTo>
                    <a:pt x="4321810" y="2226310"/>
                    <a:pt x="4319270" y="2299970"/>
                    <a:pt x="4311650" y="2372360"/>
                  </a:cubicBezTo>
                  <a:cubicBezTo>
                    <a:pt x="4295140" y="2532380"/>
                    <a:pt x="4262120" y="2689860"/>
                    <a:pt x="4220210" y="2844800"/>
                  </a:cubicBezTo>
                  <a:cubicBezTo>
                    <a:pt x="4142740" y="3131820"/>
                    <a:pt x="4036060" y="3408680"/>
                    <a:pt x="3902710" y="3674110"/>
                  </a:cubicBezTo>
                  <a:cubicBezTo>
                    <a:pt x="3742690" y="3994150"/>
                    <a:pt x="3559810" y="4300220"/>
                    <a:pt x="3352800" y="4591050"/>
                  </a:cubicBezTo>
                  <a:cubicBezTo>
                    <a:pt x="3248660" y="4737100"/>
                    <a:pt x="3143250" y="4879340"/>
                    <a:pt x="3020060" y="5010150"/>
                  </a:cubicBezTo>
                  <a:cubicBezTo>
                    <a:pt x="2992120" y="5040630"/>
                    <a:pt x="2960370" y="5067300"/>
                    <a:pt x="2934970" y="5100320"/>
                  </a:cubicBezTo>
                  <a:cubicBezTo>
                    <a:pt x="2851150" y="5204460"/>
                    <a:pt x="2753360" y="5290820"/>
                    <a:pt x="2640330" y="5360670"/>
                  </a:cubicBezTo>
                  <a:cubicBezTo>
                    <a:pt x="2540000" y="5422900"/>
                    <a:pt x="2434590" y="5469890"/>
                    <a:pt x="2317750" y="5488940"/>
                  </a:cubicBezTo>
                  <a:cubicBezTo>
                    <a:pt x="2283460" y="5494020"/>
                    <a:pt x="2249170" y="5499100"/>
                    <a:pt x="2216150" y="5504180"/>
                  </a:cubicBezTo>
                  <a:close/>
                  <a:moveTo>
                    <a:pt x="1244600" y="2216150"/>
                  </a:moveTo>
                  <a:cubicBezTo>
                    <a:pt x="1428750" y="2164080"/>
                    <a:pt x="1567180" y="2056130"/>
                    <a:pt x="1656080" y="1885950"/>
                  </a:cubicBezTo>
                  <a:cubicBezTo>
                    <a:pt x="1709420" y="1781810"/>
                    <a:pt x="1760220" y="1677670"/>
                    <a:pt x="1807210" y="1569720"/>
                  </a:cubicBezTo>
                  <a:cubicBezTo>
                    <a:pt x="1869440" y="1430020"/>
                    <a:pt x="1925320" y="1287780"/>
                    <a:pt x="1985010" y="1145540"/>
                  </a:cubicBezTo>
                  <a:cubicBezTo>
                    <a:pt x="2020570" y="1062990"/>
                    <a:pt x="2061210" y="981710"/>
                    <a:pt x="2090420" y="897890"/>
                  </a:cubicBezTo>
                  <a:cubicBezTo>
                    <a:pt x="2108200" y="845820"/>
                    <a:pt x="2127250" y="793750"/>
                    <a:pt x="2151380" y="744220"/>
                  </a:cubicBezTo>
                  <a:cubicBezTo>
                    <a:pt x="2192020" y="660400"/>
                    <a:pt x="2197100" y="571500"/>
                    <a:pt x="2175510" y="480060"/>
                  </a:cubicBezTo>
                  <a:cubicBezTo>
                    <a:pt x="2161540" y="422910"/>
                    <a:pt x="2131060" y="373380"/>
                    <a:pt x="2104390" y="322580"/>
                  </a:cubicBezTo>
                  <a:cubicBezTo>
                    <a:pt x="2065020" y="245110"/>
                    <a:pt x="2007870" y="182880"/>
                    <a:pt x="1935480" y="137160"/>
                  </a:cubicBezTo>
                  <a:cubicBezTo>
                    <a:pt x="1805940" y="54610"/>
                    <a:pt x="1663700" y="8890"/>
                    <a:pt x="1510030" y="2540"/>
                  </a:cubicBezTo>
                  <a:cubicBezTo>
                    <a:pt x="1452880" y="0"/>
                    <a:pt x="1394460" y="5080"/>
                    <a:pt x="1336040" y="8890"/>
                  </a:cubicBezTo>
                  <a:cubicBezTo>
                    <a:pt x="1240790" y="13970"/>
                    <a:pt x="1146810" y="29210"/>
                    <a:pt x="1055370" y="59690"/>
                  </a:cubicBezTo>
                  <a:cubicBezTo>
                    <a:pt x="955040" y="92710"/>
                    <a:pt x="854710" y="129540"/>
                    <a:pt x="767080" y="191770"/>
                  </a:cubicBezTo>
                  <a:cubicBezTo>
                    <a:pt x="687070" y="248920"/>
                    <a:pt x="613410" y="313690"/>
                    <a:pt x="546100" y="386080"/>
                  </a:cubicBezTo>
                  <a:cubicBezTo>
                    <a:pt x="408940" y="537210"/>
                    <a:pt x="294640" y="701040"/>
                    <a:pt x="227330" y="897890"/>
                  </a:cubicBezTo>
                  <a:cubicBezTo>
                    <a:pt x="161290" y="1089660"/>
                    <a:pt x="137160" y="1283970"/>
                    <a:pt x="161290" y="1483360"/>
                  </a:cubicBezTo>
                  <a:cubicBezTo>
                    <a:pt x="185420" y="1678940"/>
                    <a:pt x="262890" y="1849120"/>
                    <a:pt x="394970" y="1997710"/>
                  </a:cubicBezTo>
                  <a:cubicBezTo>
                    <a:pt x="548640" y="2169160"/>
                    <a:pt x="741680" y="2246630"/>
                    <a:pt x="935990" y="2256790"/>
                  </a:cubicBezTo>
                  <a:cubicBezTo>
                    <a:pt x="1050290" y="2258060"/>
                    <a:pt x="1158240" y="2240280"/>
                    <a:pt x="1244600" y="2216150"/>
                  </a:cubicBezTo>
                  <a:close/>
                </a:path>
              </a:pathLst>
            </a:custGeom>
            <a:blipFill>
              <a:blip r:embed="rId4"/>
              <a:stretch>
                <a:fillRect l="0" t="-2490" r="0" b="-249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9579856" y="1014999"/>
            <a:ext cx="7089789" cy="898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50"/>
              </a:lnSpc>
              <a:spcBef>
                <a:spcPct val="0"/>
              </a:spcBef>
            </a:pPr>
            <a:r>
              <a:rPr lang="en-US" sz="70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IMPAC</a:t>
            </a:r>
            <a:r>
              <a:rPr lang="en-US" sz="7000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707134" y="3183234"/>
            <a:ext cx="10269770" cy="3168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6841" indent="-218421" lvl="1">
              <a:lnSpc>
                <a:spcPts val="2832"/>
              </a:lnSpc>
              <a:buFont typeface="Arial"/>
              <a:buChar char="•"/>
            </a:pPr>
            <a:r>
              <a:rPr lang="en-US" b="true" sz="2023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Societal:</a:t>
            </a:r>
            <a:r>
              <a:rPr lang="en-US" sz="202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Easier sh</a:t>
            </a:r>
            <a:r>
              <a:rPr lang="en-US" sz="202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opping, price transparency, booking test rides online.</a:t>
            </a:r>
          </a:p>
          <a:p>
            <a:pPr algn="l">
              <a:lnSpc>
                <a:spcPts val="2832"/>
              </a:lnSpc>
            </a:pPr>
          </a:p>
          <a:p>
            <a:pPr algn="l" marL="436841" indent="-218421" lvl="1">
              <a:lnSpc>
                <a:spcPts val="2832"/>
              </a:lnSpc>
              <a:buFont typeface="Arial"/>
              <a:buChar char="•"/>
            </a:pPr>
            <a:r>
              <a:rPr lang="en-US" b="true" sz="2023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Health &amp; Safety: </a:t>
            </a:r>
            <a:r>
              <a:rPr lang="en-US" sz="202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Promotes helmets &amp; safety gear with bike purchases.</a:t>
            </a:r>
          </a:p>
          <a:p>
            <a:pPr algn="l">
              <a:lnSpc>
                <a:spcPts val="2832"/>
              </a:lnSpc>
            </a:pPr>
          </a:p>
          <a:p>
            <a:pPr algn="just" marL="436841" indent="-218421" lvl="1">
              <a:lnSpc>
                <a:spcPts val="2832"/>
              </a:lnSpc>
              <a:buFont typeface="Arial"/>
              <a:buChar char="•"/>
            </a:pPr>
            <a:r>
              <a:rPr lang="en-US" b="true" sz="2023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Legal:</a:t>
            </a:r>
            <a:r>
              <a:rPr lang="en-US" sz="202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Secure customer data handling, digital invoices reduce disputes.</a:t>
            </a:r>
          </a:p>
          <a:p>
            <a:pPr algn="l">
              <a:lnSpc>
                <a:spcPts val="2832"/>
              </a:lnSpc>
            </a:pPr>
          </a:p>
          <a:p>
            <a:pPr algn="l" marL="436841" indent="-218421" lvl="1">
              <a:lnSpc>
                <a:spcPts val="2832"/>
              </a:lnSpc>
              <a:buFont typeface="Arial"/>
              <a:buChar char="•"/>
            </a:pPr>
            <a:r>
              <a:rPr lang="en-US" b="true" sz="2023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Environmental:</a:t>
            </a:r>
            <a:r>
              <a:rPr lang="en-US" sz="202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Paperless invoices, less overstock, reduced unnecessary travel.</a:t>
            </a:r>
          </a:p>
          <a:p>
            <a:pPr algn="l">
              <a:lnSpc>
                <a:spcPts val="2832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4845659" y="8593567"/>
            <a:ext cx="3442341" cy="1560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2"/>
              </a:lnSpc>
            </a:pPr>
          </a:p>
          <a:p>
            <a:pPr algn="ctr">
              <a:lnSpc>
                <a:spcPts val="1552"/>
              </a:lnSpc>
            </a:pPr>
            <a:r>
              <a:rPr lang="en-US" sz="1108" spc="-3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Group :04</a:t>
            </a:r>
          </a:p>
          <a:p>
            <a:pPr algn="ctr">
              <a:lnSpc>
                <a:spcPts val="1552"/>
              </a:lnSpc>
            </a:pPr>
            <a:r>
              <a:rPr lang="en-US" sz="1108" spc="-3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Md. Nasim Ahmed ID: 2232936042</a:t>
            </a:r>
          </a:p>
          <a:p>
            <a:pPr algn="ctr">
              <a:lnSpc>
                <a:spcPts val="1552"/>
              </a:lnSpc>
            </a:pPr>
          </a:p>
          <a:p>
            <a:pPr algn="ctr">
              <a:lnSpc>
                <a:spcPts val="1552"/>
              </a:lnSpc>
              <a:spcBef>
                <a:spcPct val="0"/>
              </a:spcBef>
            </a:pPr>
            <a:r>
              <a:rPr lang="en-US" sz="1108" spc="-3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Md. Abi</a:t>
            </a:r>
            <a:r>
              <a:rPr lang="en-US" sz="1108" spc="-3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r Hasan ID: 2021833642</a:t>
            </a:r>
          </a:p>
          <a:p>
            <a:pPr algn="ctr">
              <a:lnSpc>
                <a:spcPts val="1552"/>
              </a:lnSpc>
              <a:spcBef>
                <a:spcPct val="0"/>
              </a:spcBef>
            </a:pPr>
          </a:p>
          <a:p>
            <a:pPr algn="ctr">
              <a:lnSpc>
                <a:spcPts val="1552"/>
              </a:lnSpc>
              <a:spcBef>
                <a:spcPct val="0"/>
              </a:spcBef>
            </a:pPr>
            <a:r>
              <a:rPr lang="en-US" sz="1108" spc="-3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Md Murad Ul Momin ID: 2232360642</a:t>
            </a:r>
          </a:p>
          <a:p>
            <a:pPr algn="ctr">
              <a:lnSpc>
                <a:spcPts val="155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001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303126" y="3805216"/>
          <a:ext cx="17649501" cy="4243682"/>
        </p:xfrm>
        <a:graphic>
          <a:graphicData uri="http://schemas.openxmlformats.org/drawingml/2006/table">
            <a:tbl>
              <a:tblPr/>
              <a:tblGrid>
                <a:gridCol w="6839211"/>
                <a:gridCol w="5681692"/>
                <a:gridCol w="5128597"/>
              </a:tblGrid>
              <a:tr h="1254434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994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138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Knowl</a:t>
                      </a:r>
                      <a:r>
                        <a:rPr lang="en-US" b="true" sz="2138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edge Depth</a:t>
                      </a:r>
                      <a:endParaRPr lang="en-US" sz="1100"/>
                    </a:p>
                  </a:txBody>
                  <a:tcPr marL="183639" marR="183639" marT="183639" marB="183639" anchor="ctr">
                    <a:lnL cmpd="sng" algn="ctr" cap="flat" w="9525">
                      <a:solidFill>
                        <a:srgbClr val="F537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537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537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537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994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138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Conflicting Requirements</a:t>
                      </a:r>
                      <a:endParaRPr lang="en-US" sz="1100"/>
                    </a:p>
                  </a:txBody>
                  <a:tcPr marL="183639" marR="183639" marT="183639" marB="183639" anchor="ctr">
                    <a:lnL cmpd="sng" algn="ctr" cap="flat" w="9525">
                      <a:solidFill>
                        <a:srgbClr val="F537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537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537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537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994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138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St</a:t>
                      </a:r>
                      <a:r>
                        <a:rPr lang="en-US" b="true" sz="2138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akeholder</a:t>
                      </a:r>
                      <a:endParaRPr lang="en-US" sz="1100"/>
                    </a:p>
                    <a:p>
                      <a:pPr algn="ctr" marL="0" indent="0" lvl="0">
                        <a:lnSpc>
                          <a:spcPts val="2994"/>
                        </a:lnSpc>
                        <a:spcBef>
                          <a:spcPct val="0"/>
                        </a:spcBef>
                      </a:pPr>
                      <a:r>
                        <a:rPr lang="en-US" b="true" sz="2138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Involvement</a:t>
                      </a:r>
                    </a:p>
                  </a:txBody>
                  <a:tcPr marL="183639" marR="183639" marT="183639" marB="183639" anchor="ctr">
                    <a:lnL cmpd="sng" algn="ctr" cap="flat" w="9525">
                      <a:solidFill>
                        <a:srgbClr val="F537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537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537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537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8924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 strike="noStrike" u="none">
                          <a:solidFill>
                            <a:srgbClr val="F4F8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Required expertise in PHP, JS, databases, and UI/UX principles.</a:t>
                      </a:r>
                      <a:endParaRPr lang="en-US" sz="1100"/>
                    </a:p>
                  </a:txBody>
                  <a:tcPr marL="183639" marR="183639" marT="183639" marB="183639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 strike="noStrike" u="none">
                          <a:solidFill>
                            <a:srgbClr val="F4F8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Balancing rich features vs. performance &amp; speed.</a:t>
                      </a:r>
                      <a:endParaRPr lang="en-US" sz="1100"/>
                    </a:p>
                  </a:txBody>
                  <a:tcPr marL="183639" marR="183639" marT="183639" marB="183639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94"/>
                        </a:lnSpc>
                        <a:defRPr/>
                      </a:pPr>
                      <a:r>
                        <a:rPr lang="en-US" sz="2138">
                          <a:solidFill>
                            <a:srgbClr val="F4F8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Several stakeholders are involved in the project, including store owners, customers, sales staff, and system administrators.</a:t>
                      </a:r>
                      <a:endParaRPr lang="en-US" sz="1100"/>
                    </a:p>
                  </a:txBody>
                  <a:tcPr marL="183639" marR="183639" marT="183639" marB="183639" anchor="ctr">
                    <a:lnL cmpd="sng" algn="ctr" cap="flat" w="9525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701562" y="206228"/>
            <a:ext cx="16884877" cy="2441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01"/>
              </a:lnSpc>
              <a:spcBef>
                <a:spcPct val="0"/>
              </a:spcBef>
            </a:pPr>
            <a:r>
              <a:rPr lang="en-US" sz="70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COMPLEX ENGINEERING PROBLEMS (CEP)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845659" y="8524243"/>
            <a:ext cx="3442341" cy="1560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2"/>
              </a:lnSpc>
            </a:pPr>
          </a:p>
          <a:p>
            <a:pPr algn="ctr">
              <a:lnSpc>
                <a:spcPts val="1552"/>
              </a:lnSpc>
            </a:pPr>
            <a:r>
              <a:rPr lang="en-US" sz="1108" spc="-3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Group :04</a:t>
            </a:r>
          </a:p>
          <a:p>
            <a:pPr algn="ctr">
              <a:lnSpc>
                <a:spcPts val="1552"/>
              </a:lnSpc>
            </a:pPr>
            <a:r>
              <a:rPr lang="en-US" sz="1108" spc="-3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Md. Nasim Ahmed ID: 2232936042</a:t>
            </a:r>
          </a:p>
          <a:p>
            <a:pPr algn="ctr">
              <a:lnSpc>
                <a:spcPts val="1552"/>
              </a:lnSpc>
            </a:pPr>
          </a:p>
          <a:p>
            <a:pPr algn="ctr">
              <a:lnSpc>
                <a:spcPts val="1552"/>
              </a:lnSpc>
              <a:spcBef>
                <a:spcPct val="0"/>
              </a:spcBef>
            </a:pPr>
            <a:r>
              <a:rPr lang="en-US" sz="1108" spc="-3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Md. Abi</a:t>
            </a:r>
            <a:r>
              <a:rPr lang="en-US" sz="1108" spc="-3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r Hasan ID: 2021833642</a:t>
            </a:r>
          </a:p>
          <a:p>
            <a:pPr algn="ctr">
              <a:lnSpc>
                <a:spcPts val="1552"/>
              </a:lnSpc>
              <a:spcBef>
                <a:spcPct val="0"/>
              </a:spcBef>
            </a:pPr>
          </a:p>
          <a:p>
            <a:pPr algn="ctr">
              <a:lnSpc>
                <a:spcPts val="1552"/>
              </a:lnSpc>
              <a:spcBef>
                <a:spcPct val="0"/>
              </a:spcBef>
            </a:pPr>
            <a:r>
              <a:rPr lang="en-US" sz="1108" spc="-3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Md Murad Ul Momin ID: 2232360642</a:t>
            </a:r>
          </a:p>
          <a:p>
            <a:pPr algn="ctr">
              <a:lnSpc>
                <a:spcPts val="155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001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303126" y="3805216"/>
          <a:ext cx="17649501" cy="3872207"/>
        </p:xfrm>
        <a:graphic>
          <a:graphicData uri="http://schemas.openxmlformats.org/drawingml/2006/table">
            <a:tbl>
              <a:tblPr/>
              <a:tblGrid>
                <a:gridCol w="9640572"/>
                <a:gridCol w="8008929"/>
              </a:tblGrid>
              <a:tr h="869931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994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138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Resourc</a:t>
                      </a:r>
                      <a:r>
                        <a:rPr lang="en-US" b="true" sz="2138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es</a:t>
                      </a:r>
                      <a:endParaRPr lang="en-US" sz="1100"/>
                    </a:p>
                  </a:txBody>
                  <a:tcPr marL="183639" marR="183639" marT="183639" marB="183639" anchor="ctr">
                    <a:lnL cmpd="sng" algn="ctr" cap="flat" w="9525">
                      <a:solidFill>
                        <a:srgbClr val="F537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537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537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537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994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138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Interactions</a:t>
                      </a:r>
                      <a:endParaRPr lang="en-US" sz="1100"/>
                    </a:p>
                  </a:txBody>
                  <a:tcPr marL="183639" marR="183639" marT="183639" marB="183639" anchor="ctr">
                    <a:lnL cmpd="sng" algn="ctr" cap="flat" w="9525">
                      <a:solidFill>
                        <a:srgbClr val="F537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537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537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537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227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4F8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H</a:t>
                      </a:r>
                      <a:r>
                        <a:rPr lang="en-US" sz="2199" strike="noStrike" u="none">
                          <a:solidFill>
                            <a:srgbClr val="F4F8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uman collaboration, servers, databases, and development tools.</a:t>
                      </a:r>
                      <a:endParaRPr lang="en-US" sz="1100"/>
                    </a:p>
                  </a:txBody>
                  <a:tcPr marL="183639" marR="183639" marT="183639" marB="183639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4F8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Regu</a:t>
                      </a:r>
                      <a:r>
                        <a:rPr lang="en-US" sz="2199" strike="noStrike" u="none">
                          <a:solidFill>
                            <a:srgbClr val="F4F8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lar coordination among team members, store owners, and potential users.</a:t>
                      </a:r>
                      <a:endParaRPr lang="en-US" sz="1100"/>
                    </a:p>
                    <a:p>
                      <a:pPr algn="l">
                        <a:lnSpc>
                          <a:spcPts val="3079"/>
                        </a:lnSpc>
                      </a:pPr>
                    </a:p>
                  </a:txBody>
                  <a:tcPr marL="183639" marR="183639" marT="183639" marB="183639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644896" y="117951"/>
            <a:ext cx="16965961" cy="3698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48"/>
              </a:lnSpc>
              <a:spcBef>
                <a:spcPct val="0"/>
              </a:spcBef>
            </a:pPr>
            <a:r>
              <a:rPr lang="en-US" sz="703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COMPLEX ENGINEERING ACTIVITIES (CEA)</a:t>
            </a:r>
          </a:p>
          <a:p>
            <a:pPr algn="ctr">
              <a:lnSpc>
                <a:spcPts val="9848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4845659" y="8524243"/>
            <a:ext cx="3442341" cy="1560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2"/>
              </a:lnSpc>
            </a:pPr>
          </a:p>
          <a:p>
            <a:pPr algn="ctr">
              <a:lnSpc>
                <a:spcPts val="1552"/>
              </a:lnSpc>
            </a:pPr>
            <a:r>
              <a:rPr lang="en-US" sz="1108" spc="-3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Group :04</a:t>
            </a:r>
          </a:p>
          <a:p>
            <a:pPr algn="ctr">
              <a:lnSpc>
                <a:spcPts val="1552"/>
              </a:lnSpc>
            </a:pPr>
            <a:r>
              <a:rPr lang="en-US" sz="1108" spc="-3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Md. Nasim Ahmed ID: 2232936042</a:t>
            </a:r>
          </a:p>
          <a:p>
            <a:pPr algn="ctr">
              <a:lnSpc>
                <a:spcPts val="1552"/>
              </a:lnSpc>
            </a:pPr>
          </a:p>
          <a:p>
            <a:pPr algn="ctr">
              <a:lnSpc>
                <a:spcPts val="1552"/>
              </a:lnSpc>
              <a:spcBef>
                <a:spcPct val="0"/>
              </a:spcBef>
            </a:pPr>
            <a:r>
              <a:rPr lang="en-US" sz="1108" spc="-3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Md. Abi</a:t>
            </a:r>
            <a:r>
              <a:rPr lang="en-US" sz="1108" spc="-3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r Hasan ID: 2021833642</a:t>
            </a:r>
          </a:p>
          <a:p>
            <a:pPr algn="ctr">
              <a:lnSpc>
                <a:spcPts val="1552"/>
              </a:lnSpc>
              <a:spcBef>
                <a:spcPct val="0"/>
              </a:spcBef>
            </a:pPr>
          </a:p>
          <a:p>
            <a:pPr algn="ctr">
              <a:lnSpc>
                <a:spcPts val="1552"/>
              </a:lnSpc>
              <a:spcBef>
                <a:spcPct val="0"/>
              </a:spcBef>
            </a:pPr>
            <a:r>
              <a:rPr lang="en-US" sz="1108" spc="-3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Md Murad Ul Momin ID: 2232360642</a:t>
            </a:r>
          </a:p>
          <a:p>
            <a:pPr algn="ctr">
              <a:lnSpc>
                <a:spcPts val="155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1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02696"/>
            <a:ext cx="11595433" cy="1813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34"/>
              </a:lnSpc>
              <a:spcBef>
                <a:spcPct val="0"/>
              </a:spcBef>
            </a:pPr>
            <a:r>
              <a:rPr lang="en-US" sz="62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62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Fut</a:t>
            </a:r>
            <a:r>
              <a:rPr lang="en-US" sz="6200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URE IMPROVEMENT</a:t>
            </a:r>
          </a:p>
          <a:p>
            <a:pPr algn="l" marL="0" indent="0" lvl="0">
              <a:lnSpc>
                <a:spcPts val="7490"/>
              </a:lnSpc>
              <a:spcBef>
                <a:spcPct val="0"/>
              </a:spcBef>
            </a:pPr>
          </a:p>
        </p:txBody>
      </p:sp>
      <p:grpSp>
        <p:nvGrpSpPr>
          <p:cNvPr name="Group 3" id="3"/>
          <p:cNvGrpSpPr/>
          <p:nvPr/>
        </p:nvGrpSpPr>
        <p:grpSpPr>
          <a:xfrm rot="85255">
            <a:off x="10100858" y="1514662"/>
            <a:ext cx="6524773" cy="7257676"/>
            <a:chOff x="687070" y="247650"/>
            <a:chExt cx="11148060" cy="1240028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148060" cy="12400280"/>
            </a:xfrm>
            <a:custGeom>
              <a:avLst/>
              <a:gdLst/>
              <a:ahLst/>
              <a:cxnLst/>
              <a:rect r="r" b="b" t="t" l="l"/>
              <a:pathLst>
                <a:path h="12400280" w="11148060">
                  <a:moveTo>
                    <a:pt x="9215120" y="1497330"/>
                  </a:moveTo>
                  <a:cubicBezTo>
                    <a:pt x="8773160" y="972820"/>
                    <a:pt x="8234680" y="508000"/>
                    <a:pt x="7590790" y="252730"/>
                  </a:cubicBezTo>
                  <a:cubicBezTo>
                    <a:pt x="7132320" y="71120"/>
                    <a:pt x="6633210" y="0"/>
                    <a:pt x="6139180" y="6350"/>
                  </a:cubicBezTo>
                  <a:cubicBezTo>
                    <a:pt x="4053840" y="36830"/>
                    <a:pt x="2157730" y="1490980"/>
                    <a:pt x="1289050" y="3346450"/>
                  </a:cubicBezTo>
                  <a:cubicBezTo>
                    <a:pt x="527050" y="4977130"/>
                    <a:pt x="0" y="7792720"/>
                    <a:pt x="680720" y="9457690"/>
                  </a:cubicBezTo>
                  <a:cubicBezTo>
                    <a:pt x="1360170" y="11122660"/>
                    <a:pt x="2499360" y="12005310"/>
                    <a:pt x="4248150" y="12081510"/>
                  </a:cubicBezTo>
                  <a:cubicBezTo>
                    <a:pt x="7001510" y="12400280"/>
                    <a:pt x="9088120" y="10502900"/>
                    <a:pt x="10118090" y="8309610"/>
                  </a:cubicBezTo>
                  <a:cubicBezTo>
                    <a:pt x="11148061" y="6116320"/>
                    <a:pt x="10782300" y="3361690"/>
                    <a:pt x="9215120" y="1497330"/>
                  </a:cubicBezTo>
                  <a:close/>
                </a:path>
              </a:pathLst>
            </a:custGeom>
            <a:blipFill>
              <a:blip r:embed="rId2"/>
              <a:stretch>
                <a:fillRect l="-8607" t="0" r="-8607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2544687">
            <a:off x="-5927214" y="5540945"/>
            <a:ext cx="16820250" cy="5718885"/>
          </a:xfrm>
          <a:custGeom>
            <a:avLst/>
            <a:gdLst/>
            <a:ahLst/>
            <a:cxnLst/>
            <a:rect r="r" b="b" t="t" l="l"/>
            <a:pathLst>
              <a:path h="5718885" w="16820250">
                <a:moveTo>
                  <a:pt x="0" y="0"/>
                </a:moveTo>
                <a:lnTo>
                  <a:pt x="16820250" y="0"/>
                </a:lnTo>
                <a:lnTo>
                  <a:pt x="16820250" y="5718885"/>
                </a:lnTo>
                <a:lnTo>
                  <a:pt x="0" y="57188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2611880"/>
            <a:ext cx="8983177" cy="5312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4585" indent="-282292" lvl="1">
              <a:lnSpc>
                <a:spcPts val="5334"/>
              </a:lnSpc>
              <a:buAutoNum type="arabicPeriod" startAt="1"/>
            </a:pPr>
            <a:r>
              <a:rPr lang="en-US" b="true" sz="2615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Online payment integration.</a:t>
            </a:r>
          </a:p>
          <a:p>
            <a:pPr algn="l" marL="564585" indent="-282292" lvl="1">
              <a:lnSpc>
                <a:spcPts val="5334"/>
              </a:lnSpc>
              <a:buAutoNum type="arabicPeriod" startAt="1"/>
            </a:pPr>
            <a:r>
              <a:rPr lang="en-US" b="true" sz="2615" u="non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Mobile app version.</a:t>
            </a:r>
          </a:p>
          <a:p>
            <a:pPr algn="l" marL="564585" indent="-282292" lvl="1">
              <a:lnSpc>
                <a:spcPts val="5334"/>
              </a:lnSpc>
              <a:buAutoNum type="arabicPeriod" startAt="1"/>
            </a:pPr>
            <a:r>
              <a:rPr lang="en-US" b="true" sz="2615" u="non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Chatbot integration.</a:t>
            </a:r>
          </a:p>
          <a:p>
            <a:pPr algn="l" marL="564585" indent="-282292" lvl="1">
              <a:lnSpc>
                <a:spcPts val="5334"/>
              </a:lnSpc>
              <a:buAutoNum type="arabicPeriod" startAt="1"/>
            </a:pPr>
            <a:r>
              <a:rPr lang="en-US" b="true" sz="2615" u="non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Forgot password.</a:t>
            </a:r>
          </a:p>
          <a:p>
            <a:pPr algn="l" marL="564585" indent="-282292" lvl="1">
              <a:lnSpc>
                <a:spcPts val="5334"/>
              </a:lnSpc>
              <a:buAutoNum type="arabicPeriod" startAt="1"/>
            </a:pPr>
            <a:r>
              <a:rPr lang="en-US" b="true" sz="2615" u="non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Buy second-hand bikes.</a:t>
            </a:r>
          </a:p>
          <a:p>
            <a:pPr algn="l" marL="564585" indent="-282292" lvl="1">
              <a:lnSpc>
                <a:spcPts val="5334"/>
              </a:lnSpc>
              <a:buAutoNum type="arabicPeriod" startAt="1"/>
            </a:pPr>
            <a:r>
              <a:rPr lang="en-US" b="true" sz="2615" u="non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Guess the bike price</a:t>
            </a:r>
            <a:r>
              <a:rPr lang="en-US" sz="2615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.</a:t>
            </a:r>
          </a:p>
          <a:p>
            <a:pPr algn="l" marL="564585" indent="-282292" lvl="1">
              <a:lnSpc>
                <a:spcPts val="5334"/>
              </a:lnSpc>
              <a:buAutoNum type="arabicPeriod" startAt="1"/>
            </a:pPr>
            <a:r>
              <a:rPr lang="en-US" b="true" sz="2615" u="non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Contact with customers</a:t>
            </a:r>
            <a:r>
              <a:rPr lang="en-US" sz="2615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.</a:t>
            </a:r>
          </a:p>
          <a:p>
            <a:pPr algn="l">
              <a:lnSpc>
                <a:spcPts val="5334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4845659" y="8524243"/>
            <a:ext cx="3442341" cy="1560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2"/>
              </a:lnSpc>
            </a:pPr>
          </a:p>
          <a:p>
            <a:pPr algn="ctr">
              <a:lnSpc>
                <a:spcPts val="1552"/>
              </a:lnSpc>
            </a:pPr>
            <a:r>
              <a:rPr lang="en-US" sz="1108" spc="-3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Group :04</a:t>
            </a:r>
          </a:p>
          <a:p>
            <a:pPr algn="ctr">
              <a:lnSpc>
                <a:spcPts val="1552"/>
              </a:lnSpc>
            </a:pPr>
            <a:r>
              <a:rPr lang="en-US" sz="1108" spc="-3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Md. Nasim Ahmed ID: 2232936042</a:t>
            </a:r>
          </a:p>
          <a:p>
            <a:pPr algn="ctr">
              <a:lnSpc>
                <a:spcPts val="1552"/>
              </a:lnSpc>
            </a:pPr>
          </a:p>
          <a:p>
            <a:pPr algn="ctr">
              <a:lnSpc>
                <a:spcPts val="1552"/>
              </a:lnSpc>
              <a:spcBef>
                <a:spcPct val="0"/>
              </a:spcBef>
            </a:pPr>
            <a:r>
              <a:rPr lang="en-US" sz="1108" spc="-3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Md. Abi</a:t>
            </a:r>
            <a:r>
              <a:rPr lang="en-US" sz="1108" spc="-3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r Hasan ID: 2021833642</a:t>
            </a:r>
          </a:p>
          <a:p>
            <a:pPr algn="ctr">
              <a:lnSpc>
                <a:spcPts val="1552"/>
              </a:lnSpc>
              <a:spcBef>
                <a:spcPct val="0"/>
              </a:spcBef>
            </a:pPr>
          </a:p>
          <a:p>
            <a:pPr algn="ctr">
              <a:lnSpc>
                <a:spcPts val="1552"/>
              </a:lnSpc>
              <a:spcBef>
                <a:spcPct val="0"/>
              </a:spcBef>
            </a:pPr>
            <a:r>
              <a:rPr lang="en-US" sz="1108" spc="-3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Md Murad Ul Momin ID: 2232360642</a:t>
            </a:r>
          </a:p>
          <a:p>
            <a:pPr algn="ctr">
              <a:lnSpc>
                <a:spcPts val="155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1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79085" y="5766457"/>
            <a:ext cx="3032175" cy="2961993"/>
            <a:chOff x="0" y="0"/>
            <a:chExt cx="4828540" cy="47167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-7620"/>
              <a:ext cx="4833620" cy="4726940"/>
            </a:xfrm>
            <a:custGeom>
              <a:avLst/>
              <a:gdLst/>
              <a:ahLst/>
              <a:cxnLst/>
              <a:rect r="r" b="b" t="t" l="l"/>
              <a:pathLst>
                <a:path h="4726940" w="4833620">
                  <a:moveTo>
                    <a:pt x="3416300" y="4662170"/>
                  </a:moveTo>
                  <a:cubicBezTo>
                    <a:pt x="3388360" y="4669790"/>
                    <a:pt x="3366770" y="4679950"/>
                    <a:pt x="3345180" y="4682490"/>
                  </a:cubicBezTo>
                  <a:cubicBezTo>
                    <a:pt x="3223260" y="4692650"/>
                    <a:pt x="3102610" y="4702810"/>
                    <a:pt x="2980690" y="4711700"/>
                  </a:cubicBezTo>
                  <a:cubicBezTo>
                    <a:pt x="2918460" y="4715510"/>
                    <a:pt x="2856230" y="4719320"/>
                    <a:pt x="2794000" y="4720590"/>
                  </a:cubicBezTo>
                  <a:cubicBezTo>
                    <a:pt x="2726690" y="4723130"/>
                    <a:pt x="2659380" y="4726940"/>
                    <a:pt x="2593340" y="4724400"/>
                  </a:cubicBezTo>
                  <a:cubicBezTo>
                    <a:pt x="2529840" y="4723130"/>
                    <a:pt x="2466340" y="4719320"/>
                    <a:pt x="2405380" y="4707890"/>
                  </a:cubicBezTo>
                  <a:cubicBezTo>
                    <a:pt x="2326640" y="4693920"/>
                    <a:pt x="2246630" y="4693920"/>
                    <a:pt x="2169160" y="4681220"/>
                  </a:cubicBezTo>
                  <a:cubicBezTo>
                    <a:pt x="1967230" y="4648200"/>
                    <a:pt x="1761490" y="4657090"/>
                    <a:pt x="1558290" y="4643120"/>
                  </a:cubicBezTo>
                  <a:cubicBezTo>
                    <a:pt x="1443990" y="4635500"/>
                    <a:pt x="1329690" y="4617720"/>
                    <a:pt x="1215390" y="4602480"/>
                  </a:cubicBezTo>
                  <a:cubicBezTo>
                    <a:pt x="1085850" y="4585970"/>
                    <a:pt x="956310" y="4566920"/>
                    <a:pt x="825500" y="4549140"/>
                  </a:cubicBezTo>
                  <a:cubicBezTo>
                    <a:pt x="730250" y="4536440"/>
                    <a:pt x="633730" y="4523740"/>
                    <a:pt x="538480" y="4511040"/>
                  </a:cubicBezTo>
                  <a:cubicBezTo>
                    <a:pt x="535940" y="4511040"/>
                    <a:pt x="533400" y="4509770"/>
                    <a:pt x="530860" y="4509770"/>
                  </a:cubicBezTo>
                  <a:cubicBezTo>
                    <a:pt x="450850" y="4475480"/>
                    <a:pt x="365760" y="4448810"/>
                    <a:pt x="292100" y="4404360"/>
                  </a:cubicBezTo>
                  <a:cubicBezTo>
                    <a:pt x="167640" y="4328160"/>
                    <a:pt x="114300" y="4206240"/>
                    <a:pt x="109220" y="4062730"/>
                  </a:cubicBezTo>
                  <a:cubicBezTo>
                    <a:pt x="107950" y="4013200"/>
                    <a:pt x="101600" y="3964940"/>
                    <a:pt x="101600" y="3915410"/>
                  </a:cubicBezTo>
                  <a:cubicBezTo>
                    <a:pt x="102870" y="3846830"/>
                    <a:pt x="107950" y="3779520"/>
                    <a:pt x="111760" y="3712210"/>
                  </a:cubicBezTo>
                  <a:cubicBezTo>
                    <a:pt x="121920" y="3511550"/>
                    <a:pt x="127000" y="3310890"/>
                    <a:pt x="111760" y="3110230"/>
                  </a:cubicBezTo>
                  <a:cubicBezTo>
                    <a:pt x="97790" y="2929890"/>
                    <a:pt x="85090" y="2750820"/>
                    <a:pt x="71120" y="2570480"/>
                  </a:cubicBezTo>
                  <a:cubicBezTo>
                    <a:pt x="62230" y="2454910"/>
                    <a:pt x="50800" y="2340610"/>
                    <a:pt x="43180" y="2225040"/>
                  </a:cubicBezTo>
                  <a:cubicBezTo>
                    <a:pt x="38100" y="2148840"/>
                    <a:pt x="39370" y="2071370"/>
                    <a:pt x="34290" y="1995170"/>
                  </a:cubicBezTo>
                  <a:cubicBezTo>
                    <a:pt x="31750" y="1951990"/>
                    <a:pt x="17780" y="1910080"/>
                    <a:pt x="16510" y="1866900"/>
                  </a:cubicBezTo>
                  <a:cubicBezTo>
                    <a:pt x="11430" y="1762760"/>
                    <a:pt x="10160" y="1657350"/>
                    <a:pt x="7620" y="1551940"/>
                  </a:cubicBezTo>
                  <a:cubicBezTo>
                    <a:pt x="6350" y="1511300"/>
                    <a:pt x="0" y="1470660"/>
                    <a:pt x="1270" y="1430020"/>
                  </a:cubicBezTo>
                  <a:cubicBezTo>
                    <a:pt x="2540" y="1366520"/>
                    <a:pt x="10160" y="1303020"/>
                    <a:pt x="11430" y="1239520"/>
                  </a:cubicBezTo>
                  <a:cubicBezTo>
                    <a:pt x="12700" y="1165860"/>
                    <a:pt x="5080" y="1092200"/>
                    <a:pt x="7620" y="1019810"/>
                  </a:cubicBezTo>
                  <a:cubicBezTo>
                    <a:pt x="7620" y="949960"/>
                    <a:pt x="16510" y="881380"/>
                    <a:pt x="25400" y="811530"/>
                  </a:cubicBezTo>
                  <a:cubicBezTo>
                    <a:pt x="27940" y="787400"/>
                    <a:pt x="45720" y="765810"/>
                    <a:pt x="50800" y="741680"/>
                  </a:cubicBezTo>
                  <a:cubicBezTo>
                    <a:pt x="72390" y="622300"/>
                    <a:pt x="95250" y="502920"/>
                    <a:pt x="151130" y="392430"/>
                  </a:cubicBezTo>
                  <a:cubicBezTo>
                    <a:pt x="163830" y="368300"/>
                    <a:pt x="184150" y="346710"/>
                    <a:pt x="203200" y="327660"/>
                  </a:cubicBezTo>
                  <a:cubicBezTo>
                    <a:pt x="209550" y="321310"/>
                    <a:pt x="224790" y="325120"/>
                    <a:pt x="228600" y="325120"/>
                  </a:cubicBezTo>
                  <a:cubicBezTo>
                    <a:pt x="237490" y="308610"/>
                    <a:pt x="242570" y="292100"/>
                    <a:pt x="252730" y="284480"/>
                  </a:cubicBezTo>
                  <a:cubicBezTo>
                    <a:pt x="307340" y="242570"/>
                    <a:pt x="364490" y="212090"/>
                    <a:pt x="435610" y="204470"/>
                  </a:cubicBezTo>
                  <a:cubicBezTo>
                    <a:pt x="488950" y="198120"/>
                    <a:pt x="541020" y="175260"/>
                    <a:pt x="594360" y="162560"/>
                  </a:cubicBezTo>
                  <a:cubicBezTo>
                    <a:pt x="659130" y="147320"/>
                    <a:pt x="723900" y="129540"/>
                    <a:pt x="791210" y="120650"/>
                  </a:cubicBezTo>
                  <a:cubicBezTo>
                    <a:pt x="852170" y="113030"/>
                    <a:pt x="910590" y="96520"/>
                    <a:pt x="972820" y="91440"/>
                  </a:cubicBezTo>
                  <a:cubicBezTo>
                    <a:pt x="1036320" y="86360"/>
                    <a:pt x="1099820" y="71120"/>
                    <a:pt x="1164590" y="66040"/>
                  </a:cubicBezTo>
                  <a:cubicBezTo>
                    <a:pt x="1339850" y="53340"/>
                    <a:pt x="1516380" y="44450"/>
                    <a:pt x="1691640" y="34290"/>
                  </a:cubicBezTo>
                  <a:cubicBezTo>
                    <a:pt x="1734820" y="31750"/>
                    <a:pt x="1778000" y="34290"/>
                    <a:pt x="1821180" y="35560"/>
                  </a:cubicBezTo>
                  <a:cubicBezTo>
                    <a:pt x="1842770" y="36830"/>
                    <a:pt x="1864360" y="41910"/>
                    <a:pt x="1887220" y="44450"/>
                  </a:cubicBezTo>
                  <a:cubicBezTo>
                    <a:pt x="1897380" y="45720"/>
                    <a:pt x="1907540" y="41910"/>
                    <a:pt x="1917700" y="41910"/>
                  </a:cubicBezTo>
                  <a:cubicBezTo>
                    <a:pt x="1948180" y="41910"/>
                    <a:pt x="1979930" y="41910"/>
                    <a:pt x="2010410" y="40640"/>
                  </a:cubicBezTo>
                  <a:cubicBezTo>
                    <a:pt x="2068830" y="38100"/>
                    <a:pt x="2128520" y="31750"/>
                    <a:pt x="2186940" y="31750"/>
                  </a:cubicBezTo>
                  <a:cubicBezTo>
                    <a:pt x="2244090" y="31750"/>
                    <a:pt x="2301240" y="35560"/>
                    <a:pt x="2358390" y="38100"/>
                  </a:cubicBezTo>
                  <a:lnTo>
                    <a:pt x="2404110" y="38100"/>
                  </a:lnTo>
                  <a:cubicBezTo>
                    <a:pt x="2473960" y="35560"/>
                    <a:pt x="2542540" y="35560"/>
                    <a:pt x="2612390" y="31750"/>
                  </a:cubicBezTo>
                  <a:cubicBezTo>
                    <a:pt x="2679700" y="27940"/>
                    <a:pt x="2745740" y="19050"/>
                    <a:pt x="2813050" y="15240"/>
                  </a:cubicBezTo>
                  <a:cubicBezTo>
                    <a:pt x="2844800" y="12700"/>
                    <a:pt x="2877820" y="12700"/>
                    <a:pt x="2909570" y="19050"/>
                  </a:cubicBezTo>
                  <a:cubicBezTo>
                    <a:pt x="2957830" y="27940"/>
                    <a:pt x="3003550" y="33020"/>
                    <a:pt x="3051810" y="19050"/>
                  </a:cubicBezTo>
                  <a:cubicBezTo>
                    <a:pt x="3069590" y="13970"/>
                    <a:pt x="3092450" y="22860"/>
                    <a:pt x="3112770" y="25400"/>
                  </a:cubicBezTo>
                  <a:cubicBezTo>
                    <a:pt x="3121660" y="26670"/>
                    <a:pt x="3131820" y="29210"/>
                    <a:pt x="3136900" y="25400"/>
                  </a:cubicBezTo>
                  <a:cubicBezTo>
                    <a:pt x="3171190" y="0"/>
                    <a:pt x="3202940" y="6350"/>
                    <a:pt x="3235960" y="27940"/>
                  </a:cubicBezTo>
                  <a:cubicBezTo>
                    <a:pt x="3239770" y="30480"/>
                    <a:pt x="3249930" y="24130"/>
                    <a:pt x="3257550" y="24130"/>
                  </a:cubicBezTo>
                  <a:cubicBezTo>
                    <a:pt x="3288030" y="24130"/>
                    <a:pt x="3318510" y="24130"/>
                    <a:pt x="3350260" y="25400"/>
                  </a:cubicBezTo>
                  <a:cubicBezTo>
                    <a:pt x="3373120" y="26670"/>
                    <a:pt x="3394710" y="34290"/>
                    <a:pt x="3417570" y="36830"/>
                  </a:cubicBezTo>
                  <a:cubicBezTo>
                    <a:pt x="3467100" y="43180"/>
                    <a:pt x="3517900" y="53340"/>
                    <a:pt x="3568700" y="53340"/>
                  </a:cubicBezTo>
                  <a:cubicBezTo>
                    <a:pt x="3663950" y="54610"/>
                    <a:pt x="3759200" y="58420"/>
                    <a:pt x="3853180" y="78740"/>
                  </a:cubicBezTo>
                  <a:cubicBezTo>
                    <a:pt x="3940810" y="97790"/>
                    <a:pt x="4030980" y="97790"/>
                    <a:pt x="4119880" y="113030"/>
                  </a:cubicBezTo>
                  <a:cubicBezTo>
                    <a:pt x="4173220" y="121920"/>
                    <a:pt x="4227830" y="138430"/>
                    <a:pt x="4273550" y="165100"/>
                  </a:cubicBezTo>
                  <a:cubicBezTo>
                    <a:pt x="4323080" y="193040"/>
                    <a:pt x="4361180" y="238760"/>
                    <a:pt x="4405630" y="276860"/>
                  </a:cubicBezTo>
                  <a:cubicBezTo>
                    <a:pt x="4422140" y="290830"/>
                    <a:pt x="4446270" y="300990"/>
                    <a:pt x="4457700" y="318770"/>
                  </a:cubicBezTo>
                  <a:cubicBezTo>
                    <a:pt x="4490720" y="367030"/>
                    <a:pt x="4519930" y="417830"/>
                    <a:pt x="4549140" y="468630"/>
                  </a:cubicBezTo>
                  <a:cubicBezTo>
                    <a:pt x="4570730" y="505460"/>
                    <a:pt x="4592320" y="543560"/>
                    <a:pt x="4608830" y="581660"/>
                  </a:cubicBezTo>
                  <a:cubicBezTo>
                    <a:pt x="4626610" y="626110"/>
                    <a:pt x="4640580" y="671830"/>
                    <a:pt x="4654550" y="718820"/>
                  </a:cubicBezTo>
                  <a:cubicBezTo>
                    <a:pt x="4676140" y="792480"/>
                    <a:pt x="4701540" y="866140"/>
                    <a:pt x="4715510" y="942340"/>
                  </a:cubicBezTo>
                  <a:cubicBezTo>
                    <a:pt x="4735830" y="1049020"/>
                    <a:pt x="4745990" y="1158240"/>
                    <a:pt x="4761230" y="1266190"/>
                  </a:cubicBezTo>
                  <a:cubicBezTo>
                    <a:pt x="4766310" y="1301750"/>
                    <a:pt x="4772660" y="1337310"/>
                    <a:pt x="4775200" y="1372870"/>
                  </a:cubicBezTo>
                  <a:cubicBezTo>
                    <a:pt x="4782820" y="1474470"/>
                    <a:pt x="4787900" y="1574800"/>
                    <a:pt x="4794250" y="1676400"/>
                  </a:cubicBezTo>
                  <a:cubicBezTo>
                    <a:pt x="4803140" y="1802130"/>
                    <a:pt x="4815840" y="1926590"/>
                    <a:pt x="4822190" y="2052320"/>
                  </a:cubicBezTo>
                  <a:cubicBezTo>
                    <a:pt x="4828540" y="2172970"/>
                    <a:pt x="4833620" y="2294890"/>
                    <a:pt x="4831080" y="2416810"/>
                  </a:cubicBezTo>
                  <a:cubicBezTo>
                    <a:pt x="4827270" y="2620010"/>
                    <a:pt x="4817110" y="2821940"/>
                    <a:pt x="4806950" y="3025140"/>
                  </a:cubicBezTo>
                  <a:cubicBezTo>
                    <a:pt x="4800600" y="3150870"/>
                    <a:pt x="4791710" y="3275330"/>
                    <a:pt x="4779010" y="3399790"/>
                  </a:cubicBezTo>
                  <a:cubicBezTo>
                    <a:pt x="4766310" y="3524250"/>
                    <a:pt x="4747260" y="3647440"/>
                    <a:pt x="4733290" y="3771900"/>
                  </a:cubicBezTo>
                  <a:cubicBezTo>
                    <a:pt x="4723130" y="3858260"/>
                    <a:pt x="4720590" y="3944620"/>
                    <a:pt x="4709160" y="4029710"/>
                  </a:cubicBezTo>
                  <a:cubicBezTo>
                    <a:pt x="4699000" y="4107180"/>
                    <a:pt x="4660900" y="4175760"/>
                    <a:pt x="4610100" y="4232910"/>
                  </a:cubicBezTo>
                  <a:cubicBezTo>
                    <a:pt x="4568190" y="4281170"/>
                    <a:pt x="4535170" y="4335780"/>
                    <a:pt x="4491990" y="4382770"/>
                  </a:cubicBezTo>
                  <a:cubicBezTo>
                    <a:pt x="4453890" y="4424680"/>
                    <a:pt x="4411980" y="4466590"/>
                    <a:pt x="4345940" y="4467860"/>
                  </a:cubicBezTo>
                  <a:cubicBezTo>
                    <a:pt x="4330700" y="4467860"/>
                    <a:pt x="4316730" y="4483100"/>
                    <a:pt x="4301490" y="4490720"/>
                  </a:cubicBezTo>
                  <a:cubicBezTo>
                    <a:pt x="4236720" y="4518660"/>
                    <a:pt x="4169410" y="4542790"/>
                    <a:pt x="4105910" y="4573270"/>
                  </a:cubicBezTo>
                  <a:cubicBezTo>
                    <a:pt x="3989070" y="4629150"/>
                    <a:pt x="3863340" y="4638040"/>
                    <a:pt x="3737610" y="4643120"/>
                  </a:cubicBezTo>
                  <a:cubicBezTo>
                    <a:pt x="3689350" y="4645660"/>
                    <a:pt x="3639820" y="4641850"/>
                    <a:pt x="3591560" y="4645660"/>
                  </a:cubicBezTo>
                  <a:cubicBezTo>
                    <a:pt x="3567430" y="4646930"/>
                    <a:pt x="3544570" y="4658360"/>
                    <a:pt x="3521710" y="4663440"/>
                  </a:cubicBezTo>
                  <a:cubicBezTo>
                    <a:pt x="3511550" y="4665980"/>
                    <a:pt x="3501390" y="4664710"/>
                    <a:pt x="3489960" y="4665980"/>
                  </a:cubicBezTo>
                  <a:cubicBezTo>
                    <a:pt x="3474720" y="4667250"/>
                    <a:pt x="3459480" y="4671060"/>
                    <a:pt x="3444240" y="4669790"/>
                  </a:cubicBezTo>
                  <a:cubicBezTo>
                    <a:pt x="3429000" y="4667250"/>
                    <a:pt x="3418840" y="4662170"/>
                    <a:pt x="3416300" y="4662170"/>
                  </a:cubicBezTo>
                  <a:close/>
                </a:path>
              </a:pathLst>
            </a:custGeom>
            <a:blipFill>
              <a:blip r:embed="rId2"/>
              <a:stretch>
                <a:fillRect l="-23358" t="0" r="-23358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35142" y="5766457"/>
            <a:ext cx="3032175" cy="2961993"/>
            <a:chOff x="0" y="0"/>
            <a:chExt cx="4828540" cy="47167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-7620"/>
              <a:ext cx="4833620" cy="4726940"/>
            </a:xfrm>
            <a:custGeom>
              <a:avLst/>
              <a:gdLst/>
              <a:ahLst/>
              <a:cxnLst/>
              <a:rect r="r" b="b" t="t" l="l"/>
              <a:pathLst>
                <a:path h="4726940" w="4833620">
                  <a:moveTo>
                    <a:pt x="3416300" y="4662170"/>
                  </a:moveTo>
                  <a:cubicBezTo>
                    <a:pt x="3388360" y="4669790"/>
                    <a:pt x="3366770" y="4679950"/>
                    <a:pt x="3345180" y="4682490"/>
                  </a:cubicBezTo>
                  <a:cubicBezTo>
                    <a:pt x="3223260" y="4692650"/>
                    <a:pt x="3102610" y="4702810"/>
                    <a:pt x="2980690" y="4711700"/>
                  </a:cubicBezTo>
                  <a:cubicBezTo>
                    <a:pt x="2918460" y="4715510"/>
                    <a:pt x="2856230" y="4719320"/>
                    <a:pt x="2794000" y="4720590"/>
                  </a:cubicBezTo>
                  <a:cubicBezTo>
                    <a:pt x="2726690" y="4723130"/>
                    <a:pt x="2659380" y="4726940"/>
                    <a:pt x="2593340" y="4724400"/>
                  </a:cubicBezTo>
                  <a:cubicBezTo>
                    <a:pt x="2529840" y="4723130"/>
                    <a:pt x="2466340" y="4719320"/>
                    <a:pt x="2405380" y="4707890"/>
                  </a:cubicBezTo>
                  <a:cubicBezTo>
                    <a:pt x="2326640" y="4693920"/>
                    <a:pt x="2246630" y="4693920"/>
                    <a:pt x="2169160" y="4681220"/>
                  </a:cubicBezTo>
                  <a:cubicBezTo>
                    <a:pt x="1967230" y="4648200"/>
                    <a:pt x="1761490" y="4657090"/>
                    <a:pt x="1558290" y="4643120"/>
                  </a:cubicBezTo>
                  <a:cubicBezTo>
                    <a:pt x="1443990" y="4635500"/>
                    <a:pt x="1329690" y="4617720"/>
                    <a:pt x="1215390" y="4602480"/>
                  </a:cubicBezTo>
                  <a:cubicBezTo>
                    <a:pt x="1085850" y="4585970"/>
                    <a:pt x="956310" y="4566920"/>
                    <a:pt x="825500" y="4549140"/>
                  </a:cubicBezTo>
                  <a:cubicBezTo>
                    <a:pt x="730250" y="4536440"/>
                    <a:pt x="633730" y="4523740"/>
                    <a:pt x="538480" y="4511040"/>
                  </a:cubicBezTo>
                  <a:cubicBezTo>
                    <a:pt x="535940" y="4511040"/>
                    <a:pt x="533400" y="4509770"/>
                    <a:pt x="530860" y="4509770"/>
                  </a:cubicBezTo>
                  <a:cubicBezTo>
                    <a:pt x="450850" y="4475480"/>
                    <a:pt x="365760" y="4448810"/>
                    <a:pt x="292100" y="4404360"/>
                  </a:cubicBezTo>
                  <a:cubicBezTo>
                    <a:pt x="167640" y="4328160"/>
                    <a:pt x="114300" y="4206240"/>
                    <a:pt x="109220" y="4062730"/>
                  </a:cubicBezTo>
                  <a:cubicBezTo>
                    <a:pt x="107950" y="4013200"/>
                    <a:pt x="101600" y="3964940"/>
                    <a:pt x="101600" y="3915410"/>
                  </a:cubicBezTo>
                  <a:cubicBezTo>
                    <a:pt x="102870" y="3846830"/>
                    <a:pt x="107950" y="3779520"/>
                    <a:pt x="111760" y="3712210"/>
                  </a:cubicBezTo>
                  <a:cubicBezTo>
                    <a:pt x="121920" y="3511550"/>
                    <a:pt x="127000" y="3310890"/>
                    <a:pt x="111760" y="3110230"/>
                  </a:cubicBezTo>
                  <a:cubicBezTo>
                    <a:pt x="97790" y="2929890"/>
                    <a:pt x="85090" y="2750820"/>
                    <a:pt x="71120" y="2570480"/>
                  </a:cubicBezTo>
                  <a:cubicBezTo>
                    <a:pt x="62230" y="2454910"/>
                    <a:pt x="50800" y="2340610"/>
                    <a:pt x="43180" y="2225040"/>
                  </a:cubicBezTo>
                  <a:cubicBezTo>
                    <a:pt x="38100" y="2148840"/>
                    <a:pt x="39370" y="2071370"/>
                    <a:pt x="34290" y="1995170"/>
                  </a:cubicBezTo>
                  <a:cubicBezTo>
                    <a:pt x="31750" y="1951990"/>
                    <a:pt x="17780" y="1910080"/>
                    <a:pt x="16510" y="1866900"/>
                  </a:cubicBezTo>
                  <a:cubicBezTo>
                    <a:pt x="11430" y="1762760"/>
                    <a:pt x="10160" y="1657350"/>
                    <a:pt x="7620" y="1551940"/>
                  </a:cubicBezTo>
                  <a:cubicBezTo>
                    <a:pt x="6350" y="1511300"/>
                    <a:pt x="0" y="1470660"/>
                    <a:pt x="1270" y="1430020"/>
                  </a:cubicBezTo>
                  <a:cubicBezTo>
                    <a:pt x="2540" y="1366520"/>
                    <a:pt x="10160" y="1303020"/>
                    <a:pt x="11430" y="1239520"/>
                  </a:cubicBezTo>
                  <a:cubicBezTo>
                    <a:pt x="12700" y="1165860"/>
                    <a:pt x="5080" y="1092200"/>
                    <a:pt x="7620" y="1019810"/>
                  </a:cubicBezTo>
                  <a:cubicBezTo>
                    <a:pt x="7620" y="949960"/>
                    <a:pt x="16510" y="881380"/>
                    <a:pt x="25400" y="811530"/>
                  </a:cubicBezTo>
                  <a:cubicBezTo>
                    <a:pt x="27940" y="787400"/>
                    <a:pt x="45720" y="765810"/>
                    <a:pt x="50800" y="741680"/>
                  </a:cubicBezTo>
                  <a:cubicBezTo>
                    <a:pt x="72390" y="622300"/>
                    <a:pt x="95250" y="502920"/>
                    <a:pt x="151130" y="392430"/>
                  </a:cubicBezTo>
                  <a:cubicBezTo>
                    <a:pt x="163830" y="368300"/>
                    <a:pt x="184150" y="346710"/>
                    <a:pt x="203200" y="327660"/>
                  </a:cubicBezTo>
                  <a:cubicBezTo>
                    <a:pt x="209550" y="321310"/>
                    <a:pt x="224790" y="325120"/>
                    <a:pt x="228600" y="325120"/>
                  </a:cubicBezTo>
                  <a:cubicBezTo>
                    <a:pt x="237490" y="308610"/>
                    <a:pt x="242570" y="292100"/>
                    <a:pt x="252730" y="284480"/>
                  </a:cubicBezTo>
                  <a:cubicBezTo>
                    <a:pt x="307340" y="242570"/>
                    <a:pt x="364490" y="212090"/>
                    <a:pt x="435610" y="204470"/>
                  </a:cubicBezTo>
                  <a:cubicBezTo>
                    <a:pt x="488950" y="198120"/>
                    <a:pt x="541020" y="175260"/>
                    <a:pt x="594360" y="162560"/>
                  </a:cubicBezTo>
                  <a:cubicBezTo>
                    <a:pt x="659130" y="147320"/>
                    <a:pt x="723900" y="129540"/>
                    <a:pt x="791210" y="120650"/>
                  </a:cubicBezTo>
                  <a:cubicBezTo>
                    <a:pt x="852170" y="113030"/>
                    <a:pt x="910590" y="96520"/>
                    <a:pt x="972820" y="91440"/>
                  </a:cubicBezTo>
                  <a:cubicBezTo>
                    <a:pt x="1036320" y="86360"/>
                    <a:pt x="1099820" y="71120"/>
                    <a:pt x="1164590" y="66040"/>
                  </a:cubicBezTo>
                  <a:cubicBezTo>
                    <a:pt x="1339850" y="53340"/>
                    <a:pt x="1516380" y="44450"/>
                    <a:pt x="1691640" y="34290"/>
                  </a:cubicBezTo>
                  <a:cubicBezTo>
                    <a:pt x="1734820" y="31750"/>
                    <a:pt x="1778000" y="34290"/>
                    <a:pt x="1821180" y="35560"/>
                  </a:cubicBezTo>
                  <a:cubicBezTo>
                    <a:pt x="1842770" y="36830"/>
                    <a:pt x="1864360" y="41910"/>
                    <a:pt x="1887220" y="44450"/>
                  </a:cubicBezTo>
                  <a:cubicBezTo>
                    <a:pt x="1897380" y="45720"/>
                    <a:pt x="1907540" y="41910"/>
                    <a:pt x="1917700" y="41910"/>
                  </a:cubicBezTo>
                  <a:cubicBezTo>
                    <a:pt x="1948180" y="41910"/>
                    <a:pt x="1979930" y="41910"/>
                    <a:pt x="2010410" y="40640"/>
                  </a:cubicBezTo>
                  <a:cubicBezTo>
                    <a:pt x="2068830" y="38100"/>
                    <a:pt x="2128520" y="31750"/>
                    <a:pt x="2186940" y="31750"/>
                  </a:cubicBezTo>
                  <a:cubicBezTo>
                    <a:pt x="2244090" y="31750"/>
                    <a:pt x="2301240" y="35560"/>
                    <a:pt x="2358390" y="38100"/>
                  </a:cubicBezTo>
                  <a:lnTo>
                    <a:pt x="2404110" y="38100"/>
                  </a:lnTo>
                  <a:cubicBezTo>
                    <a:pt x="2473960" y="35560"/>
                    <a:pt x="2542540" y="35560"/>
                    <a:pt x="2612390" y="31750"/>
                  </a:cubicBezTo>
                  <a:cubicBezTo>
                    <a:pt x="2679700" y="27940"/>
                    <a:pt x="2745740" y="19050"/>
                    <a:pt x="2813050" y="15240"/>
                  </a:cubicBezTo>
                  <a:cubicBezTo>
                    <a:pt x="2844800" y="12700"/>
                    <a:pt x="2877820" y="12700"/>
                    <a:pt x="2909570" y="19050"/>
                  </a:cubicBezTo>
                  <a:cubicBezTo>
                    <a:pt x="2957830" y="27940"/>
                    <a:pt x="3003550" y="33020"/>
                    <a:pt x="3051810" y="19050"/>
                  </a:cubicBezTo>
                  <a:cubicBezTo>
                    <a:pt x="3069590" y="13970"/>
                    <a:pt x="3092450" y="22860"/>
                    <a:pt x="3112770" y="25400"/>
                  </a:cubicBezTo>
                  <a:cubicBezTo>
                    <a:pt x="3121660" y="26670"/>
                    <a:pt x="3131820" y="29210"/>
                    <a:pt x="3136900" y="25400"/>
                  </a:cubicBezTo>
                  <a:cubicBezTo>
                    <a:pt x="3171190" y="0"/>
                    <a:pt x="3202940" y="6350"/>
                    <a:pt x="3235960" y="27940"/>
                  </a:cubicBezTo>
                  <a:cubicBezTo>
                    <a:pt x="3239770" y="30480"/>
                    <a:pt x="3249930" y="24130"/>
                    <a:pt x="3257550" y="24130"/>
                  </a:cubicBezTo>
                  <a:cubicBezTo>
                    <a:pt x="3288030" y="24130"/>
                    <a:pt x="3318510" y="24130"/>
                    <a:pt x="3350260" y="25400"/>
                  </a:cubicBezTo>
                  <a:cubicBezTo>
                    <a:pt x="3373120" y="26670"/>
                    <a:pt x="3394710" y="34290"/>
                    <a:pt x="3417570" y="36830"/>
                  </a:cubicBezTo>
                  <a:cubicBezTo>
                    <a:pt x="3467100" y="43180"/>
                    <a:pt x="3517900" y="53340"/>
                    <a:pt x="3568700" y="53340"/>
                  </a:cubicBezTo>
                  <a:cubicBezTo>
                    <a:pt x="3663950" y="54610"/>
                    <a:pt x="3759200" y="58420"/>
                    <a:pt x="3853180" y="78740"/>
                  </a:cubicBezTo>
                  <a:cubicBezTo>
                    <a:pt x="3940810" y="97790"/>
                    <a:pt x="4030980" y="97790"/>
                    <a:pt x="4119880" y="113030"/>
                  </a:cubicBezTo>
                  <a:cubicBezTo>
                    <a:pt x="4173220" y="121920"/>
                    <a:pt x="4227830" y="138430"/>
                    <a:pt x="4273550" y="165100"/>
                  </a:cubicBezTo>
                  <a:cubicBezTo>
                    <a:pt x="4323080" y="193040"/>
                    <a:pt x="4361180" y="238760"/>
                    <a:pt x="4405630" y="276860"/>
                  </a:cubicBezTo>
                  <a:cubicBezTo>
                    <a:pt x="4422140" y="290830"/>
                    <a:pt x="4446270" y="300990"/>
                    <a:pt x="4457700" y="318770"/>
                  </a:cubicBezTo>
                  <a:cubicBezTo>
                    <a:pt x="4490720" y="367030"/>
                    <a:pt x="4519930" y="417830"/>
                    <a:pt x="4549140" y="468630"/>
                  </a:cubicBezTo>
                  <a:cubicBezTo>
                    <a:pt x="4570730" y="505460"/>
                    <a:pt x="4592320" y="543560"/>
                    <a:pt x="4608830" y="581660"/>
                  </a:cubicBezTo>
                  <a:cubicBezTo>
                    <a:pt x="4626610" y="626110"/>
                    <a:pt x="4640580" y="671830"/>
                    <a:pt x="4654550" y="718820"/>
                  </a:cubicBezTo>
                  <a:cubicBezTo>
                    <a:pt x="4676140" y="792480"/>
                    <a:pt x="4701540" y="866140"/>
                    <a:pt x="4715510" y="942340"/>
                  </a:cubicBezTo>
                  <a:cubicBezTo>
                    <a:pt x="4735830" y="1049020"/>
                    <a:pt x="4745990" y="1158240"/>
                    <a:pt x="4761230" y="1266190"/>
                  </a:cubicBezTo>
                  <a:cubicBezTo>
                    <a:pt x="4766310" y="1301750"/>
                    <a:pt x="4772660" y="1337310"/>
                    <a:pt x="4775200" y="1372870"/>
                  </a:cubicBezTo>
                  <a:cubicBezTo>
                    <a:pt x="4782820" y="1474470"/>
                    <a:pt x="4787900" y="1574800"/>
                    <a:pt x="4794250" y="1676400"/>
                  </a:cubicBezTo>
                  <a:cubicBezTo>
                    <a:pt x="4803140" y="1802130"/>
                    <a:pt x="4815840" y="1926590"/>
                    <a:pt x="4822190" y="2052320"/>
                  </a:cubicBezTo>
                  <a:cubicBezTo>
                    <a:pt x="4828540" y="2172970"/>
                    <a:pt x="4833620" y="2294890"/>
                    <a:pt x="4831080" y="2416810"/>
                  </a:cubicBezTo>
                  <a:cubicBezTo>
                    <a:pt x="4827270" y="2620010"/>
                    <a:pt x="4817110" y="2821940"/>
                    <a:pt x="4806950" y="3025140"/>
                  </a:cubicBezTo>
                  <a:cubicBezTo>
                    <a:pt x="4800600" y="3150870"/>
                    <a:pt x="4791710" y="3275330"/>
                    <a:pt x="4779010" y="3399790"/>
                  </a:cubicBezTo>
                  <a:cubicBezTo>
                    <a:pt x="4766310" y="3524250"/>
                    <a:pt x="4747260" y="3647440"/>
                    <a:pt x="4733290" y="3771900"/>
                  </a:cubicBezTo>
                  <a:cubicBezTo>
                    <a:pt x="4723130" y="3858260"/>
                    <a:pt x="4720590" y="3944620"/>
                    <a:pt x="4709160" y="4029710"/>
                  </a:cubicBezTo>
                  <a:cubicBezTo>
                    <a:pt x="4699000" y="4107180"/>
                    <a:pt x="4660900" y="4175760"/>
                    <a:pt x="4610100" y="4232910"/>
                  </a:cubicBezTo>
                  <a:cubicBezTo>
                    <a:pt x="4568190" y="4281170"/>
                    <a:pt x="4535170" y="4335780"/>
                    <a:pt x="4491990" y="4382770"/>
                  </a:cubicBezTo>
                  <a:cubicBezTo>
                    <a:pt x="4453890" y="4424680"/>
                    <a:pt x="4411980" y="4466590"/>
                    <a:pt x="4345940" y="4467860"/>
                  </a:cubicBezTo>
                  <a:cubicBezTo>
                    <a:pt x="4330700" y="4467860"/>
                    <a:pt x="4316730" y="4483100"/>
                    <a:pt x="4301490" y="4490720"/>
                  </a:cubicBezTo>
                  <a:cubicBezTo>
                    <a:pt x="4236720" y="4518660"/>
                    <a:pt x="4169410" y="4542790"/>
                    <a:pt x="4105910" y="4573270"/>
                  </a:cubicBezTo>
                  <a:cubicBezTo>
                    <a:pt x="3989070" y="4629150"/>
                    <a:pt x="3863340" y="4638040"/>
                    <a:pt x="3737610" y="4643120"/>
                  </a:cubicBezTo>
                  <a:cubicBezTo>
                    <a:pt x="3689350" y="4645660"/>
                    <a:pt x="3639820" y="4641850"/>
                    <a:pt x="3591560" y="4645660"/>
                  </a:cubicBezTo>
                  <a:cubicBezTo>
                    <a:pt x="3567430" y="4646930"/>
                    <a:pt x="3544570" y="4658360"/>
                    <a:pt x="3521710" y="4663440"/>
                  </a:cubicBezTo>
                  <a:cubicBezTo>
                    <a:pt x="3511550" y="4665980"/>
                    <a:pt x="3501390" y="4664710"/>
                    <a:pt x="3489960" y="4665980"/>
                  </a:cubicBezTo>
                  <a:cubicBezTo>
                    <a:pt x="3474720" y="4667250"/>
                    <a:pt x="3459480" y="4671060"/>
                    <a:pt x="3444240" y="4669790"/>
                  </a:cubicBezTo>
                  <a:cubicBezTo>
                    <a:pt x="3429000" y="4667250"/>
                    <a:pt x="3418840" y="4662170"/>
                    <a:pt x="3416300" y="4662170"/>
                  </a:cubicBezTo>
                  <a:close/>
                </a:path>
              </a:pathLst>
            </a:custGeom>
            <a:blipFill>
              <a:blip r:embed="rId3"/>
              <a:stretch>
                <a:fillRect l="-29719" t="0" r="-29719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2075788">
            <a:off x="5857532" y="-1629440"/>
            <a:ext cx="19495543" cy="6628485"/>
          </a:xfrm>
          <a:custGeom>
            <a:avLst/>
            <a:gdLst/>
            <a:ahLst/>
            <a:cxnLst/>
            <a:rect r="r" b="b" t="t" l="l"/>
            <a:pathLst>
              <a:path h="6628485" w="19495543">
                <a:moveTo>
                  <a:pt x="0" y="0"/>
                </a:moveTo>
                <a:lnTo>
                  <a:pt x="19495543" y="0"/>
                </a:lnTo>
                <a:lnTo>
                  <a:pt x="19495543" y="6628484"/>
                </a:lnTo>
                <a:lnTo>
                  <a:pt x="0" y="66284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79085" y="1516790"/>
            <a:ext cx="6901076" cy="191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90"/>
              </a:lnSpc>
              <a:spcBef>
                <a:spcPct val="0"/>
              </a:spcBef>
            </a:pPr>
            <a:r>
              <a:rPr lang="en-US" sz="70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</a:t>
            </a:r>
            <a:r>
              <a:rPr lang="en-US" sz="7000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ONCLUSION</a:t>
            </a:r>
          </a:p>
          <a:p>
            <a:pPr algn="l" marL="0" indent="0" lvl="0">
              <a:lnSpc>
                <a:spcPts val="7490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979085" y="3404023"/>
            <a:ext cx="5170411" cy="1597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3073" indent="-266537" lvl="1">
              <a:lnSpc>
                <a:spcPts val="3209"/>
              </a:lnSpc>
              <a:buFont typeface="Arial"/>
              <a:buChar char="•"/>
            </a:pPr>
            <a:r>
              <a:rPr lang="en-US" sz="246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lang="en-US" sz="2469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rovides an all-in-one management solution for bike stores.</a:t>
            </a:r>
          </a:p>
          <a:p>
            <a:pPr algn="l">
              <a:lnSpc>
                <a:spcPts val="320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3122250" y="5832214"/>
            <a:ext cx="4638134" cy="1997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3272" indent="-266636" lvl="1">
              <a:lnSpc>
                <a:spcPts val="3210"/>
              </a:lnSpc>
              <a:buFont typeface="Arial"/>
              <a:buChar char="•"/>
            </a:pPr>
            <a:r>
              <a:rPr lang="en-US" sz="2469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Limitations: scalability, hardware dependence, maintenance, and security risks.</a:t>
            </a:r>
          </a:p>
          <a:p>
            <a:pPr algn="l" marL="0" indent="0" lvl="0">
              <a:lnSpc>
                <a:spcPts val="3210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4237995" y="5832214"/>
            <a:ext cx="4348094" cy="1197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3073" indent="-266537" lvl="1">
              <a:lnSpc>
                <a:spcPts val="3209"/>
              </a:lnSpc>
              <a:buFont typeface="Arial"/>
              <a:buChar char="•"/>
            </a:pPr>
            <a:r>
              <a:rPr lang="en-US" sz="246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Imp</a:t>
            </a:r>
            <a:r>
              <a:rPr lang="en-US" sz="2469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roves efficiency, accuracy, and customer satisfaction.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845659" y="8524243"/>
            <a:ext cx="3442341" cy="1560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2"/>
              </a:lnSpc>
            </a:pPr>
          </a:p>
          <a:p>
            <a:pPr algn="ctr">
              <a:lnSpc>
                <a:spcPts val="1552"/>
              </a:lnSpc>
            </a:pPr>
            <a:r>
              <a:rPr lang="en-US" sz="1108" spc="-3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Group :04</a:t>
            </a:r>
          </a:p>
          <a:p>
            <a:pPr algn="ctr">
              <a:lnSpc>
                <a:spcPts val="1552"/>
              </a:lnSpc>
            </a:pPr>
            <a:r>
              <a:rPr lang="en-US" sz="1108" spc="-3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Md. Nasim Ahmed ID: 2232936042</a:t>
            </a:r>
          </a:p>
          <a:p>
            <a:pPr algn="ctr">
              <a:lnSpc>
                <a:spcPts val="1552"/>
              </a:lnSpc>
            </a:pPr>
          </a:p>
          <a:p>
            <a:pPr algn="ctr">
              <a:lnSpc>
                <a:spcPts val="1552"/>
              </a:lnSpc>
              <a:spcBef>
                <a:spcPct val="0"/>
              </a:spcBef>
            </a:pPr>
            <a:r>
              <a:rPr lang="en-US" sz="1108" spc="-3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Md. Abi</a:t>
            </a:r>
            <a:r>
              <a:rPr lang="en-US" sz="1108" spc="-3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r Hasan ID: 2021833642</a:t>
            </a:r>
          </a:p>
          <a:p>
            <a:pPr algn="ctr">
              <a:lnSpc>
                <a:spcPts val="1552"/>
              </a:lnSpc>
              <a:spcBef>
                <a:spcPct val="0"/>
              </a:spcBef>
            </a:pPr>
          </a:p>
          <a:p>
            <a:pPr algn="ctr">
              <a:lnSpc>
                <a:spcPts val="1552"/>
              </a:lnSpc>
              <a:spcBef>
                <a:spcPct val="0"/>
              </a:spcBef>
            </a:pPr>
            <a:r>
              <a:rPr lang="en-US" sz="1108" spc="-3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Md Murad Ul Momin ID: 2232360642</a:t>
            </a:r>
          </a:p>
          <a:p>
            <a:pPr algn="ctr">
              <a:lnSpc>
                <a:spcPts val="155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02" r="0" b="-220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016434"/>
            <a:ext cx="11053172" cy="407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87"/>
              </a:lnSpc>
            </a:pPr>
            <a:r>
              <a:rPr lang="en-US" sz="7607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THANK YOU!</a:t>
            </a:r>
          </a:p>
          <a:p>
            <a:pPr algn="l">
              <a:lnSpc>
                <a:spcPts val="7987"/>
              </a:lnSpc>
            </a:pPr>
          </a:p>
          <a:p>
            <a:pPr algn="l">
              <a:lnSpc>
                <a:spcPts val="7987"/>
              </a:lnSpc>
            </a:pPr>
          </a:p>
          <a:p>
            <a:pPr algn="l">
              <a:lnSpc>
                <a:spcPts val="7987"/>
              </a:lnSpc>
            </a:pPr>
            <a:r>
              <a:rPr lang="en-US" sz="7607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ANY QUESTIONS??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DAGwVmt1hOE</dc:identifier>
  <dcterms:modified xsi:type="dcterms:W3CDTF">2011-08-01T06:04:30Z</dcterms:modified>
  <cp:revision>1</cp:revision>
  <dc:title>Bike Store Management System</dc:title>
</cp:coreProperties>
</file>